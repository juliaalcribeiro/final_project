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93" r:id="rId4"/>
    <p:sldMasterId id="214748369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5143500" cx="9144000"/>
  <p:notesSz cx="6858000" cy="9144000"/>
  <p:embeddedFontLst>
    <p:embeddedFont>
      <p:font typeface="Noto Sans Symbols"/>
      <p:regular r:id="rId21"/>
      <p:bold r:id="rId22"/>
    </p:embeddedFont>
    <p:embeddedFont>
      <p:font typeface="Advent Pro"/>
      <p:regular r:id="rId23"/>
      <p:bold r:id="rId24"/>
      <p:italic r:id="rId25"/>
      <p:boldItalic r:id="rId26"/>
    </p:embeddedFont>
    <p:embeddedFont>
      <p:font typeface="Viaoda Libre"/>
      <p:regular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NotoSansSymbols-bold.fntdata"/><Relationship Id="rId21" Type="http://schemas.openxmlformats.org/officeDocument/2006/relationships/font" Target="fonts/NotoSansSymbols-regular.fntdata"/><Relationship Id="rId24" Type="http://schemas.openxmlformats.org/officeDocument/2006/relationships/font" Target="fonts/AdventPro-bold.fntdata"/><Relationship Id="rId23" Type="http://schemas.openxmlformats.org/officeDocument/2006/relationships/font" Target="fonts/AdventPro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AdventPro-boldItalic.fntdata"/><Relationship Id="rId25" Type="http://schemas.openxmlformats.org/officeDocument/2006/relationships/font" Target="fonts/AdventPro-italic.fntdata"/><Relationship Id="rId27" Type="http://schemas.openxmlformats.org/officeDocument/2006/relationships/font" Target="fonts/ViaodaLibre-regular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90e858f6a1_2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g390e858f6a1_2_16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90e858f6a1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g390e858f6a1_0_7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90e858f6a1_2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g390e858f6a1_2_17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90e858f6a1_2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g390e858f6a1_2_2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90e858f6a1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g390e858f6a1_0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90e858f6a1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g390e858f6a1_0_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90e858f6a1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g390e858f6a1_0_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90e858f6a1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g390e858f6a1_0_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90e858f6a1_2_1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g390e858f6a1_2_19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90e858f6a1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g390e858f6a1_0_6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90e858f6a1_2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g390e858f6a1_2_20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90e858f6a1_2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g390e858f6a1_2_2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90e858f6a1_2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g390e858f6a1_2_2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9104fa885b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g39104fa885b_0_3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tBDfr" TargetMode="Externa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" name="Google Shape;52;p14"/>
          <p:cNvCxnSpPr/>
          <p:nvPr/>
        </p:nvCxnSpPr>
        <p:spPr>
          <a:xfrm>
            <a:off x="505800" y="54468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3" name="Google Shape;53;p14"/>
          <p:cNvCxnSpPr/>
          <p:nvPr/>
        </p:nvCxnSpPr>
        <p:spPr>
          <a:xfrm>
            <a:off x="2674800" y="289440"/>
            <a:ext cx="360" cy="25560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4" name="Google Shape;54;p14"/>
          <p:cNvCxnSpPr/>
          <p:nvPr/>
        </p:nvCxnSpPr>
        <p:spPr>
          <a:xfrm>
            <a:off x="6493680" y="289440"/>
            <a:ext cx="360" cy="25560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5" name="Google Shape;55;p14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6" name="Google Shape;56;p14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14"/>
          <p:cNvSpPr txBox="1"/>
          <p:nvPr>
            <p:ph type="title"/>
          </p:nvPr>
        </p:nvSpPr>
        <p:spPr>
          <a:xfrm>
            <a:off x="713160" y="1224720"/>
            <a:ext cx="4689000" cy="225792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8" name="Google Shape;58;p14"/>
          <p:cNvSpPr txBox="1"/>
          <p:nvPr>
            <p:ph idx="1" type="body"/>
          </p:nvPr>
        </p:nvSpPr>
        <p:spPr>
          <a:xfrm>
            <a:off x="5649480" y="768600"/>
            <a:ext cx="2781000" cy="3819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TITLE_AND_DESCRIPTION" type="blank">
  <p:cSld name="BLANK">
    <p:bg>
      <p:bgPr>
        <a:solidFill>
          <a:schemeClr val="lt1"/>
        </a:solid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/>
          <p:nvPr>
            <p:ph type="title"/>
          </p:nvPr>
        </p:nvSpPr>
        <p:spPr>
          <a:xfrm>
            <a:off x="907560" y="1182960"/>
            <a:ext cx="7328520" cy="111528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1" name="Google Shape;61;p15"/>
          <p:cNvSpPr txBox="1"/>
          <p:nvPr>
            <p:ph idx="1" type="body"/>
          </p:nvPr>
        </p:nvSpPr>
        <p:spPr>
          <a:xfrm>
            <a:off x="941760" y="682200"/>
            <a:ext cx="2964240" cy="3778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cxnSp>
        <p:nvCxnSpPr>
          <p:cNvPr id="62" name="Google Shape;62;p15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5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4">
  <p:cSld name="CUSTOM_4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5" name="Google Shape;65;p16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6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16"/>
          <p:cNvSpPr txBox="1"/>
          <p:nvPr>
            <p:ph type="title"/>
          </p:nvPr>
        </p:nvSpPr>
        <p:spPr>
          <a:xfrm>
            <a:off x="4460040" y="1495800"/>
            <a:ext cx="3668760" cy="142272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930600" y="661680"/>
            <a:ext cx="2810520" cy="38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3_1">
  <p:cSld name="CUSTOM_3_1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0" name="Google Shape;70;p17"/>
          <p:cNvCxnSpPr/>
          <p:nvPr/>
        </p:nvCxnSpPr>
        <p:spPr>
          <a:xfrm>
            <a:off x="505800" y="54468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7"/>
          <p:cNvCxnSpPr/>
          <p:nvPr/>
        </p:nvCxnSpPr>
        <p:spPr>
          <a:xfrm>
            <a:off x="2674800" y="289440"/>
            <a:ext cx="360" cy="25560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17"/>
          <p:cNvCxnSpPr/>
          <p:nvPr/>
        </p:nvCxnSpPr>
        <p:spPr>
          <a:xfrm>
            <a:off x="6493680" y="289440"/>
            <a:ext cx="360" cy="25560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17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17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5" name="Google Shape;75;p17"/>
          <p:cNvSpPr txBox="1"/>
          <p:nvPr>
            <p:ph type="title"/>
          </p:nvPr>
        </p:nvSpPr>
        <p:spPr>
          <a:xfrm>
            <a:off x="2349000" y="807840"/>
            <a:ext cx="4447800" cy="10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6" name="Google Shape;76;p17"/>
          <p:cNvSpPr/>
          <p:nvPr/>
        </p:nvSpPr>
        <p:spPr>
          <a:xfrm>
            <a:off x="2346840" y="3779640"/>
            <a:ext cx="4388040" cy="5558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pt-BR" sz="1200" u="none" strike="noStrik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CREDITS: This presentation template was created by </a:t>
            </a:r>
            <a:r>
              <a:rPr b="1" lang="pt-BR" sz="1200" u="sng" strike="noStrike">
                <a:solidFill>
                  <a:schemeClr val="hlink"/>
                </a:solidFill>
                <a:latin typeface="Advent Pro"/>
                <a:ea typeface="Advent Pro"/>
                <a:cs typeface="Advent Pro"/>
                <a:sym typeface="Advent Pro"/>
                <a:hlinkClick r:id="rId2"/>
              </a:rPr>
              <a:t>Slidesgo</a:t>
            </a:r>
            <a:r>
              <a:rPr b="0" lang="pt-BR" sz="1200" u="none" strike="noStrik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, and includes icons, infographics &amp; images by </a:t>
            </a:r>
            <a:r>
              <a:rPr b="1" lang="pt-BR" sz="1200" u="sng" strike="noStrike">
                <a:solidFill>
                  <a:schemeClr val="hlink"/>
                </a:solidFill>
                <a:latin typeface="Advent Pro"/>
                <a:ea typeface="Advent Pro"/>
                <a:cs typeface="Advent Pro"/>
                <a:sym typeface="Advent Pro"/>
                <a:hlinkClick r:id="rId3"/>
              </a:rPr>
              <a:t>Freepik</a:t>
            </a:r>
            <a:r>
              <a:rPr b="1" lang="pt-BR" sz="1200" u="none" strike="noStrik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 </a:t>
            </a:r>
            <a:endParaRPr b="0" sz="1200" u="none" strike="noStrike">
              <a:solidFill>
                <a:srgbClr val="FFFFFF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_NUMBER">
  <p:cSld name="BIG_NUMBER">
    <p:bg>
      <p:bgPr>
        <a:solidFill>
          <a:schemeClr val="l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Google Shape;78;p18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9" name="Google Shape;79;p18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" name="Google Shape;80;p18"/>
          <p:cNvSpPr txBox="1"/>
          <p:nvPr>
            <p:ph hasCustomPrompt="1" type="title"/>
          </p:nvPr>
        </p:nvSpPr>
        <p:spPr>
          <a:xfrm>
            <a:off x="1284120" y="2720880"/>
            <a:ext cx="6575760" cy="118044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>
            <a:r>
              <a:t>xx%</a:t>
            </a:r>
          </a:p>
        </p:txBody>
      </p:sp>
      <p:sp>
        <p:nvSpPr>
          <p:cNvPr id="81" name="Google Shape;81;p18"/>
          <p:cNvSpPr txBox="1"/>
          <p:nvPr>
            <p:ph idx="1" type="body"/>
          </p:nvPr>
        </p:nvSpPr>
        <p:spPr>
          <a:xfrm>
            <a:off x="713160" y="581760"/>
            <a:ext cx="7717320" cy="19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 2">
    <p:bg>
      <p:bgPr>
        <a:solidFill>
          <a:schemeClr val="dk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0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5" name="Google Shape;85;p20"/>
          <p:cNvSpPr txBox="1"/>
          <p:nvPr>
            <p:ph idx="2" type="title"/>
          </p:nvPr>
        </p:nvSpPr>
        <p:spPr>
          <a:xfrm>
            <a:off x="1505520" y="1352520"/>
            <a:ext cx="7344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6" name="Google Shape;86;p20"/>
          <p:cNvSpPr txBox="1"/>
          <p:nvPr>
            <p:ph idx="3" type="title"/>
          </p:nvPr>
        </p:nvSpPr>
        <p:spPr>
          <a:xfrm>
            <a:off x="1505520" y="3086280"/>
            <a:ext cx="7344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7" name="Google Shape;87;p20"/>
          <p:cNvSpPr txBox="1"/>
          <p:nvPr>
            <p:ph idx="4" type="title"/>
          </p:nvPr>
        </p:nvSpPr>
        <p:spPr>
          <a:xfrm>
            <a:off x="4204800" y="1352520"/>
            <a:ext cx="7344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8" name="Google Shape;88;p20"/>
          <p:cNvSpPr txBox="1"/>
          <p:nvPr>
            <p:ph idx="5" type="title"/>
          </p:nvPr>
        </p:nvSpPr>
        <p:spPr>
          <a:xfrm>
            <a:off x="4204800" y="3086280"/>
            <a:ext cx="7344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9" name="Google Shape;89;p20"/>
          <p:cNvSpPr txBox="1"/>
          <p:nvPr>
            <p:ph idx="6" type="title"/>
          </p:nvPr>
        </p:nvSpPr>
        <p:spPr>
          <a:xfrm>
            <a:off x="6904080" y="1352520"/>
            <a:ext cx="7344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0" name="Google Shape;90;p20"/>
          <p:cNvSpPr txBox="1"/>
          <p:nvPr>
            <p:ph idx="7" type="title"/>
          </p:nvPr>
        </p:nvSpPr>
        <p:spPr>
          <a:xfrm>
            <a:off x="6904080" y="3086280"/>
            <a:ext cx="7344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cxnSp>
        <p:nvCxnSpPr>
          <p:cNvPr id="91" name="Google Shape;91;p20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2" name="Google Shape;92;p20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bg>
      <p:bgPr>
        <a:solidFill>
          <a:schemeClr val="lt1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4" name="Google Shape;94;p21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95" name="Google Shape;95;p21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21"/>
          <p:cNvSpPr txBox="1"/>
          <p:nvPr>
            <p:ph type="title"/>
          </p:nvPr>
        </p:nvSpPr>
        <p:spPr>
          <a:xfrm>
            <a:off x="708840" y="3208320"/>
            <a:ext cx="3614040" cy="75852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7" name="Google Shape;97;p21"/>
          <p:cNvSpPr txBox="1"/>
          <p:nvPr>
            <p:ph idx="2" type="title"/>
          </p:nvPr>
        </p:nvSpPr>
        <p:spPr>
          <a:xfrm>
            <a:off x="713160" y="661680"/>
            <a:ext cx="900720" cy="841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8" name="Google Shape;98;p21"/>
          <p:cNvSpPr txBox="1"/>
          <p:nvPr>
            <p:ph idx="1" type="body"/>
          </p:nvPr>
        </p:nvSpPr>
        <p:spPr>
          <a:xfrm>
            <a:off x="5268240" y="661680"/>
            <a:ext cx="2781000" cy="38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">
  <p:cSld name="BLANK_1_1">
    <p:bg>
      <p:bgPr>
        <a:solidFill>
          <a:schemeClr val="lt1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22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1" name="Google Shape;101;p22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" name="Google Shape;102;p22"/>
          <p:cNvSpPr txBox="1"/>
          <p:nvPr>
            <p:ph type="title"/>
          </p:nvPr>
        </p:nvSpPr>
        <p:spPr>
          <a:xfrm>
            <a:off x="713160" y="3055680"/>
            <a:ext cx="4659480" cy="5317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3" name="Google Shape;103;p22"/>
          <p:cNvSpPr txBox="1"/>
          <p:nvPr>
            <p:ph idx="1" type="body"/>
          </p:nvPr>
        </p:nvSpPr>
        <p:spPr>
          <a:xfrm>
            <a:off x="5638680" y="661680"/>
            <a:ext cx="2781000" cy="38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">
  <p:cSld name="CUSTOM"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" name="Google Shape;105;p23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23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" name="Google Shape;107;p23"/>
          <p:cNvSpPr txBox="1"/>
          <p:nvPr>
            <p:ph type="title"/>
          </p:nvPr>
        </p:nvSpPr>
        <p:spPr>
          <a:xfrm>
            <a:off x="713160" y="1689480"/>
            <a:ext cx="3593520" cy="74232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8" name="Google Shape;108;p23"/>
          <p:cNvSpPr txBox="1"/>
          <p:nvPr>
            <p:ph idx="1" type="body"/>
          </p:nvPr>
        </p:nvSpPr>
        <p:spPr>
          <a:xfrm>
            <a:off x="5567760" y="768600"/>
            <a:ext cx="2781000" cy="38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4_1">
  <p:cSld name="CUSTOM_4_1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Google Shape;110;p24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1" name="Google Shape;111;p24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3" name="Google Shape;113;p25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" name="Google Shape;114;p25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5" name="Google Shape;115;p25"/>
          <p:cNvSpPr txBox="1"/>
          <p:nvPr>
            <p:ph type="title"/>
          </p:nvPr>
        </p:nvSpPr>
        <p:spPr>
          <a:xfrm>
            <a:off x="739440" y="1215360"/>
            <a:ext cx="3452400" cy="80496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bg>
      <p:bgPr>
        <a:solidFill>
          <a:schemeClr val="lt1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17;p26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" name="Google Shape;118;p26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" name="Google Shape;119;p26"/>
          <p:cNvSpPr txBox="1"/>
          <p:nvPr>
            <p:ph type="title"/>
          </p:nvPr>
        </p:nvSpPr>
        <p:spPr>
          <a:xfrm>
            <a:off x="4841280" y="1732320"/>
            <a:ext cx="3452400" cy="80496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HEADER" type="secHead">
  <p:cSld name="SECTION_HEADER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7"/>
          <p:cNvSpPr txBox="1"/>
          <p:nvPr>
            <p:ph type="title"/>
          </p:nvPr>
        </p:nvSpPr>
        <p:spPr>
          <a:xfrm>
            <a:off x="2038320" y="1557720"/>
            <a:ext cx="5067360" cy="70632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2" name="Google Shape;122;p27"/>
          <p:cNvSpPr txBox="1"/>
          <p:nvPr>
            <p:ph idx="2" type="title"/>
          </p:nvPr>
        </p:nvSpPr>
        <p:spPr>
          <a:xfrm>
            <a:off x="4121640" y="552960"/>
            <a:ext cx="900720" cy="841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3" name="Google Shape;123;p27"/>
          <p:cNvSpPr txBox="1"/>
          <p:nvPr>
            <p:ph idx="1" type="body"/>
          </p:nvPr>
        </p:nvSpPr>
        <p:spPr>
          <a:xfrm>
            <a:off x="713160" y="2669040"/>
            <a:ext cx="7717320" cy="19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6">
  <p:cSld name="CUSTOM_16">
    <p:bg>
      <p:bgPr>
        <a:solidFill>
          <a:schemeClr val="lt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5" name="Google Shape;125;p28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6" name="Google Shape;126;p28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8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TWO_COLUMNS_1">
  <p:cSld name="TITLE_AND_TWO_COLUMNS_1">
    <p:bg>
      <p:bgPr>
        <a:solidFill>
          <a:schemeClr val="lt1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9" name="Google Shape;129;p29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0" name="Google Shape;130;p29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29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TWO_COLUMNS_1_1">
  <p:cSld name="TITLE_AND_TWO_COLUMNS_1_1">
    <p:bg>
      <p:bgPr>
        <a:solidFill>
          <a:schemeClr val="l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3" name="Google Shape;133;p30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4" name="Google Shape;134;p30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5" name="Google Shape;135;p30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TWO_COLUMNS_1_1_1">
  <p:cSld name="TITLE_AND_TWO_COLUMNS_1_1_1">
    <p:bg>
      <p:bgPr>
        <a:solidFill>
          <a:schemeClr val="lt1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7" name="Google Shape;137;p31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8" name="Google Shape;138;p31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" name="Google Shape;139;p31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6">
  <p:cSld name="CUSTOM_6">
    <p:bg>
      <p:bgPr>
        <a:solidFill>
          <a:schemeClr val="lt1"/>
        </a:solid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1" name="Google Shape;141;p32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32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3" name="Google Shape;143;p32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5" name="Google Shape;145;p33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6" name="Google Shape;146;p33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7" name="Google Shape;147;p33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5">
  <p:cSld name="CUSTOM_5"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p34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34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1" name="Google Shape;151;p34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0">
  <p:cSld name="CUSTOM_10">
    <p:bg>
      <p:bgPr>
        <a:solidFill>
          <a:schemeClr val="lt1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" name="Google Shape;153;p35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4" name="Google Shape;154;p35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" name="Google Shape;155;p35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7">
  <p:cSld name="CUSTOM_7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7" name="Google Shape;157;p36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8" name="Google Shape;158;p36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9" name="Google Shape;159;p36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8">
  <p:cSld name="CUSTOM_8">
    <p:bg>
      <p:bgPr>
        <a:solidFill>
          <a:schemeClr val="lt1"/>
        </a:solid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1" name="Google Shape;161;p37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2" name="Google Shape;162;p37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3" name="Google Shape;163;p37"/>
          <p:cNvSpPr txBox="1"/>
          <p:nvPr>
            <p:ph type="title"/>
          </p:nvPr>
        </p:nvSpPr>
        <p:spPr>
          <a:xfrm>
            <a:off x="4132080" y="661680"/>
            <a:ext cx="4174200" cy="768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64" name="Google Shape;164;p37"/>
          <p:cNvSpPr txBox="1"/>
          <p:nvPr>
            <p:ph idx="2" type="title"/>
          </p:nvPr>
        </p:nvSpPr>
        <p:spPr>
          <a:xfrm>
            <a:off x="4132080" y="1959480"/>
            <a:ext cx="4174200" cy="768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65" name="Google Shape;165;p37"/>
          <p:cNvSpPr txBox="1"/>
          <p:nvPr>
            <p:ph idx="3" type="title"/>
          </p:nvPr>
        </p:nvSpPr>
        <p:spPr>
          <a:xfrm>
            <a:off x="4132080" y="3257280"/>
            <a:ext cx="4174200" cy="768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66" name="Google Shape;166;p37"/>
          <p:cNvSpPr txBox="1"/>
          <p:nvPr>
            <p:ph idx="1" type="body"/>
          </p:nvPr>
        </p:nvSpPr>
        <p:spPr>
          <a:xfrm>
            <a:off x="803160" y="661680"/>
            <a:ext cx="2781000" cy="38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" type="tx">
  <p:cSld name="TITLE_AND_BODY">
    <p:bg>
      <p:bgPr>
        <a:solidFill>
          <a:schemeClr val="lt1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8"/>
          <p:cNvSpPr txBox="1"/>
          <p:nvPr>
            <p:ph type="title"/>
          </p:nvPr>
        </p:nvSpPr>
        <p:spPr>
          <a:xfrm>
            <a:off x="71316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69" name="Google Shape;169;p38"/>
          <p:cNvSpPr txBox="1"/>
          <p:nvPr>
            <p:ph idx="1" type="body"/>
          </p:nvPr>
        </p:nvSpPr>
        <p:spPr>
          <a:xfrm>
            <a:off x="720000" y="1139400"/>
            <a:ext cx="7703640" cy="398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cxnSp>
        <p:nvCxnSpPr>
          <p:cNvPr id="170" name="Google Shape;170;p38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1" name="Google Shape;171;p38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8_1">
  <p:cSld name="CUSTOM_8_1">
    <p:bg>
      <p:bgPr>
        <a:solidFill>
          <a:schemeClr val="lt1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Google Shape;173;p39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4" name="Google Shape;174;p39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5" name="Google Shape;175;p39"/>
          <p:cNvSpPr txBox="1"/>
          <p:nvPr>
            <p:ph type="title"/>
          </p:nvPr>
        </p:nvSpPr>
        <p:spPr>
          <a:xfrm>
            <a:off x="1325520" y="1385640"/>
            <a:ext cx="1398600" cy="48204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76" name="Google Shape;176;p39"/>
          <p:cNvSpPr txBox="1"/>
          <p:nvPr>
            <p:ph idx="2" type="title"/>
          </p:nvPr>
        </p:nvSpPr>
        <p:spPr>
          <a:xfrm>
            <a:off x="3873240" y="1385640"/>
            <a:ext cx="1397520" cy="48204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77" name="Google Shape;177;p39"/>
          <p:cNvSpPr txBox="1"/>
          <p:nvPr>
            <p:ph idx="3" type="title"/>
          </p:nvPr>
        </p:nvSpPr>
        <p:spPr>
          <a:xfrm>
            <a:off x="6417720" y="1385640"/>
            <a:ext cx="1397520" cy="48204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78" name="Google Shape;178;p39"/>
          <p:cNvSpPr txBox="1"/>
          <p:nvPr>
            <p:ph idx="4"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4">
  <p:cSld name="CUSTOM_14">
    <p:bg>
      <p:bgPr>
        <a:solidFill>
          <a:schemeClr val="lt1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0" name="Google Shape;180;p40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1" name="Google Shape;181;p40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" name="Google Shape;182;p40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9">
  <p:cSld name="CUSTOM_9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4" name="Google Shape;184;p41"/>
          <p:cNvCxnSpPr/>
          <p:nvPr/>
        </p:nvCxnSpPr>
        <p:spPr>
          <a:xfrm>
            <a:off x="293400" y="272520"/>
            <a:ext cx="360" cy="459828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5" name="Google Shape;185;p41"/>
          <p:cNvCxnSpPr/>
          <p:nvPr/>
        </p:nvCxnSpPr>
        <p:spPr>
          <a:xfrm>
            <a:off x="8850240" y="272520"/>
            <a:ext cx="360" cy="459828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9_1">
  <p:cSld name="CUSTOM_9_1">
    <p:bg>
      <p:bgPr>
        <a:solidFill>
          <a:schemeClr val="lt1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7" name="Google Shape;187;p42"/>
          <p:cNvCxnSpPr/>
          <p:nvPr/>
        </p:nvCxnSpPr>
        <p:spPr>
          <a:xfrm>
            <a:off x="505800" y="54468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8" name="Google Shape;188;p42"/>
          <p:cNvCxnSpPr/>
          <p:nvPr/>
        </p:nvCxnSpPr>
        <p:spPr>
          <a:xfrm>
            <a:off x="998640" y="289440"/>
            <a:ext cx="360" cy="25560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9" name="Google Shape;189;p42"/>
          <p:cNvCxnSpPr/>
          <p:nvPr/>
        </p:nvCxnSpPr>
        <p:spPr>
          <a:xfrm>
            <a:off x="8156520" y="289440"/>
            <a:ext cx="360" cy="25560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0" name="Google Shape;190;p42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1" name="Google Shape;191;p42"/>
          <p:cNvCxnSpPr/>
          <p:nvPr/>
        </p:nvCxnSpPr>
        <p:spPr>
          <a:xfrm>
            <a:off x="493200" y="4859280"/>
            <a:ext cx="815760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2" name="Google Shape;192;p42"/>
          <p:cNvCxnSpPr/>
          <p:nvPr/>
        </p:nvCxnSpPr>
        <p:spPr>
          <a:xfrm>
            <a:off x="986040" y="4603680"/>
            <a:ext cx="360" cy="2559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3" name="Google Shape;193;p42"/>
          <p:cNvCxnSpPr/>
          <p:nvPr/>
        </p:nvCxnSpPr>
        <p:spPr>
          <a:xfrm>
            <a:off x="8144280" y="4603680"/>
            <a:ext cx="360" cy="2559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4" name="Google Shape;194;p42"/>
          <p:cNvCxnSpPr/>
          <p:nvPr/>
        </p:nvCxnSpPr>
        <p:spPr>
          <a:xfrm>
            <a:off x="493200" y="4603680"/>
            <a:ext cx="815760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TWO_COLUMNS" type="twoObj">
  <p:cSld name="TWO_OBJECTS">
    <p:bg>
      <p:bgPr>
        <a:solidFill>
          <a:schemeClr val="lt1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6" name="Google Shape;196;p43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97" name="Google Shape;197;p43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8" name="Google Shape;198;p43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ONLY" type="titleOnly">
  <p:cSld name="TITLE_ONLY">
    <p:bg>
      <p:bgPr>
        <a:solidFill>
          <a:schemeClr val="lt1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44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1" name="Google Shape;201;p44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44"/>
          <p:cNvSpPr txBox="1"/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_COLUMN_TEXT">
  <p:cSld name="ONE_COLUMN_TEXT">
    <p:bg>
      <p:bgPr>
        <a:solidFill>
          <a:schemeClr val="lt1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4" name="Google Shape;204;p45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5" name="Google Shape;205;p45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6" name="Google Shape;206;p45"/>
          <p:cNvSpPr txBox="1"/>
          <p:nvPr>
            <p:ph type="title"/>
          </p:nvPr>
        </p:nvSpPr>
        <p:spPr>
          <a:xfrm>
            <a:off x="4477680" y="993600"/>
            <a:ext cx="3719880" cy="9388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07" name="Google Shape;207;p45"/>
          <p:cNvSpPr txBox="1"/>
          <p:nvPr>
            <p:ph idx="1" type="body"/>
          </p:nvPr>
        </p:nvSpPr>
        <p:spPr>
          <a:xfrm>
            <a:off x="726120" y="661680"/>
            <a:ext cx="2781000" cy="38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_POINT">
  <p:cSld name="MAIN_POINT">
    <p:bg>
      <p:bgPr>
        <a:solidFill>
          <a:schemeClr val="lt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46"/>
          <p:cNvCxnSpPr/>
          <p:nvPr/>
        </p:nvCxnSpPr>
        <p:spPr>
          <a:xfrm>
            <a:off x="505800" y="485496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0" name="Google Shape;210;p46"/>
          <p:cNvCxnSpPr/>
          <p:nvPr/>
        </p:nvCxnSpPr>
        <p:spPr>
          <a:xfrm>
            <a:off x="505800" y="289440"/>
            <a:ext cx="815724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1" name="Google Shape;211;p46"/>
          <p:cNvSpPr txBox="1"/>
          <p:nvPr>
            <p:ph type="title"/>
          </p:nvPr>
        </p:nvSpPr>
        <p:spPr>
          <a:xfrm>
            <a:off x="4371840" y="1495800"/>
            <a:ext cx="3982320" cy="2151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12" name="Google Shape;212;p46"/>
          <p:cNvSpPr txBox="1"/>
          <p:nvPr>
            <p:ph idx="1" type="body"/>
          </p:nvPr>
        </p:nvSpPr>
        <p:spPr>
          <a:xfrm>
            <a:off x="1157040" y="661680"/>
            <a:ext cx="2781000" cy="38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_ONLY">
  <p:cSld name="CAPTION_ONLY">
    <p:bg>
      <p:bgPr>
        <a:solidFill>
          <a:schemeClr val="l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7"/>
          <p:cNvSpPr txBox="1"/>
          <p:nvPr>
            <p:ph idx="1" type="body"/>
          </p:nvPr>
        </p:nvSpPr>
        <p:spPr>
          <a:xfrm>
            <a:off x="0" y="-6840"/>
            <a:ext cx="9143640" cy="515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</a:lstStyle>
          <a:p/>
        </p:txBody>
      </p:sp>
      <p:sp>
        <p:nvSpPr>
          <p:cNvPr id="215" name="Google Shape;215;p47"/>
          <p:cNvSpPr txBox="1"/>
          <p:nvPr>
            <p:ph type="title"/>
          </p:nvPr>
        </p:nvSpPr>
        <p:spPr>
          <a:xfrm>
            <a:off x="1520640" y="4014360"/>
            <a:ext cx="6102720" cy="572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29" Type="http://schemas.openxmlformats.org/officeDocument/2006/relationships/slideLayout" Target="../slideLayouts/slideLayout40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2.xml"/><Relationship Id="rId33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21.xml"/><Relationship Id="rId3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24.xml"/><Relationship Id="rId35" Type="http://schemas.openxmlformats.org/officeDocument/2006/relationships/theme" Target="../theme/theme3.xml"/><Relationship Id="rId12" Type="http://schemas.openxmlformats.org/officeDocument/2006/relationships/slideLayout" Target="../slideLayouts/slideLayout23.xml"/><Relationship Id="rId34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responsibledrinking.eu/the-correlation-between-dining-habits-and-drinking/?utm_source=chatgpt.com" TargetMode="External"/><Relationship Id="rId4" Type="http://schemas.openxmlformats.org/officeDocument/2006/relationships/hyperlink" Target="https://www.colangelopr.com/wp-content/uploads/2024/03/Wine-Market-Trends-and-Challenges-1.pdf?utm_source=chatgpt.com" TargetMode="External"/><Relationship Id="rId5" Type="http://schemas.openxmlformats.org/officeDocument/2006/relationships/hyperlink" Target="https://www.sciencedirect.com/science/article/pii/S2212977412000075" TargetMode="External"/><Relationship Id="rId6" Type="http://schemas.openxmlformats.org/officeDocument/2006/relationships/hyperlink" Target="https://www.winetaste.it/wp-content/uploads/2020/06/Wine-Intelligence-Global-Trends-in-Wine-2020_March-2020-UPDATE.pdf?utm_source=chatgpt.com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0" name="Google Shape;220;p48"/>
          <p:cNvCxnSpPr/>
          <p:nvPr/>
        </p:nvCxnSpPr>
        <p:spPr>
          <a:xfrm>
            <a:off x="505800" y="3633840"/>
            <a:ext cx="7819560" cy="36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48"/>
          <p:cNvSpPr/>
          <p:nvPr/>
        </p:nvSpPr>
        <p:spPr>
          <a:xfrm>
            <a:off x="5649480" y="768600"/>
            <a:ext cx="2781000" cy="3819600"/>
          </a:xfrm>
          <a:prstGeom prst="round2SameRect">
            <a:avLst>
              <a:gd fmla="val 16667" name="adj1"/>
              <a:gd fmla="val 0" name="adj2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505800" y="1228675"/>
            <a:ext cx="4960200" cy="22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50"/>
              <a:buFont typeface="Viaoda Libre"/>
              <a:buNone/>
            </a:pPr>
            <a:r>
              <a:rPr lang="pt-BR" sz="60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PairVino</a:t>
            </a:r>
            <a:endParaRPr sz="590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50"/>
              <a:buFont typeface="Viaoda Libre"/>
              <a:buNone/>
            </a:pPr>
            <a:r>
              <a:rPr b="0" lang="pt-BR" sz="2600" u="none" strike="noStrike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Wine &amp; Food </a:t>
            </a:r>
            <a:endParaRPr b="0" sz="2600" u="none" strike="noStrike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50"/>
              <a:buFont typeface="Viaoda Libre"/>
              <a:buNone/>
            </a:pPr>
            <a:r>
              <a:rPr b="0" lang="pt-BR" sz="2200" u="none" strike="noStrike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Pairing Recommender</a:t>
            </a:r>
            <a:endParaRPr b="0" sz="22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48"/>
          <p:cNvSpPr txBox="1"/>
          <p:nvPr>
            <p:ph idx="1" type="subTitle"/>
          </p:nvPr>
        </p:nvSpPr>
        <p:spPr>
          <a:xfrm>
            <a:off x="505790" y="3782180"/>
            <a:ext cx="4686000" cy="55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"/>
              <a:buFont typeface="Calibri"/>
              <a:buNone/>
            </a:pPr>
            <a:r>
              <a:rPr lang="pt-BR" sz="16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Julia Ribeiro</a:t>
            </a:r>
            <a:endParaRPr sz="16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l">
              <a:lnSpc>
                <a:spcPct val="184545"/>
              </a:lnSpc>
              <a:spcBef>
                <a:spcPts val="1200"/>
              </a:spcBef>
              <a:spcAft>
                <a:spcPts val="1200"/>
              </a:spcAft>
              <a:buClr>
                <a:schemeClr val="dk2"/>
              </a:buClr>
              <a:buSzPts val="275"/>
              <a:buFont typeface="Arial"/>
              <a:buNone/>
            </a:pPr>
            <a:r>
              <a:rPr lang="pt-BR" sz="16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Ironhack Data Analytics Bootcamp - Final Project</a:t>
            </a:r>
            <a:endParaRPr sz="16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8" name="Google Shape;228;p49"/>
          <p:cNvCxnSpPr/>
          <p:nvPr/>
        </p:nvCxnSpPr>
        <p:spPr>
          <a:xfrm>
            <a:off x="662250" y="3983828"/>
            <a:ext cx="7819500" cy="300"/>
          </a:xfrm>
          <a:prstGeom prst="straightConnector1">
            <a:avLst/>
          </a:prstGeom>
          <a:noFill/>
          <a:ln cap="flat" cmpd="sng" w="9525">
            <a:solidFill>
              <a:srgbClr val="E9E4C7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9" name="Google Shape;229;p49"/>
          <p:cNvSpPr txBox="1"/>
          <p:nvPr>
            <p:ph type="title"/>
          </p:nvPr>
        </p:nvSpPr>
        <p:spPr>
          <a:xfrm>
            <a:off x="3771150" y="990800"/>
            <a:ext cx="4608600" cy="2935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950" u="sng">
                <a:solidFill>
                  <a:schemeClr val="hlink"/>
                </a:solidFill>
                <a:latin typeface="Viaoda Libre"/>
                <a:ea typeface="Viaoda Libre"/>
                <a:cs typeface="Viaoda Libre"/>
                <a:sym typeface="Viaoda Libre"/>
                <a:hlinkClick r:id="rId3"/>
              </a:rPr>
              <a:t>Sensory research shows that good food–wine pairings significantly enhance flavor perception</a:t>
            </a:r>
            <a:r>
              <a:rPr lang="pt-BR" sz="9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.</a:t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t/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t/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9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Two-thirds of wine drinkers strongly feel that wine and food naturally complement each other, according to </a:t>
            </a:r>
            <a:r>
              <a:rPr lang="pt-BR" sz="950" u="sng">
                <a:solidFill>
                  <a:schemeClr val="hlink"/>
                </a:solidFill>
                <a:latin typeface="Viaoda Libre"/>
                <a:ea typeface="Viaoda Libre"/>
                <a:cs typeface="Viaoda Libre"/>
                <a:sym typeface="Viaoda Libre"/>
                <a:hlinkClick r:id="rId4"/>
              </a:rPr>
              <a:t>Colangelo &amp; Partners </a:t>
            </a:r>
            <a:r>
              <a:rPr lang="pt-BR" sz="9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— but most lack the confidence to choose the right pairing.</a:t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t/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950" u="sng">
                <a:solidFill>
                  <a:schemeClr val="hlink"/>
                </a:solidFill>
                <a:latin typeface="Viaoda Libre"/>
                <a:ea typeface="Viaoda Libre"/>
                <a:cs typeface="Viaoda Libre"/>
                <a:sym typeface="Viaoda Libre"/>
                <a:hlinkClick r:id="rId5"/>
              </a:rPr>
              <a:t>A scientific study shows that wine recommendation can increase sales by 12% and food-wine pairing recommendations can increase sales by 7.6%.</a:t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t/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t/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9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Wine knowledge is complex, options are overwhelming, and most consumers do not have sommelier expertise. </a:t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950" u="sng">
                <a:solidFill>
                  <a:schemeClr val="hlink"/>
                </a:solidFill>
                <a:latin typeface="Viaoda Libre"/>
                <a:ea typeface="Viaoda Libre"/>
                <a:cs typeface="Viaoda Libre"/>
                <a:sym typeface="Viaoda Libre"/>
                <a:hlinkClick r:id="rId6"/>
              </a:rPr>
              <a:t>Wine Intelligence Global Trends in Wine report</a:t>
            </a:r>
            <a:r>
              <a:rPr lang="pt-BR" sz="9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 shows that the global wine knowledge index declined between 2015 and 2019 — from ~43.8 to ~40.1 (out of 100).</a:t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t/>
            </a:r>
            <a:endParaRPr sz="9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9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A data-driven, user-friendly tool can make expert pairing accessible to everyone, enhancing meals, improving buying decisions, and increasing engagement across the wine experience.</a:t>
            </a:r>
            <a:endParaRPr sz="15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sp>
        <p:nvSpPr>
          <p:cNvPr id="230" name="Google Shape;230;p49"/>
          <p:cNvSpPr txBox="1"/>
          <p:nvPr>
            <p:ph idx="1" type="subTitle"/>
          </p:nvPr>
        </p:nvSpPr>
        <p:spPr>
          <a:xfrm>
            <a:off x="582750" y="4041650"/>
            <a:ext cx="7665600" cy="65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15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Introducing: </a:t>
            </a:r>
            <a:r>
              <a:rPr lang="pt-BR" sz="1550">
                <a:solidFill>
                  <a:srgbClr val="990000"/>
                </a:solidFill>
                <a:latin typeface="Viaoda Libre"/>
                <a:ea typeface="Viaoda Libre"/>
                <a:cs typeface="Viaoda Libre"/>
                <a:sym typeface="Viaoda Libre"/>
              </a:rPr>
              <a:t>PairVino</a:t>
            </a:r>
            <a:endParaRPr sz="1550">
              <a:solidFill>
                <a:srgbClr val="990000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t/>
            </a:r>
            <a:endParaRPr sz="550">
              <a:solidFill>
                <a:srgbClr val="990000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9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A smart, ML-powered wine–food pairing assistant designed to bring sommelier-level recommendations to every table.</a:t>
            </a:r>
            <a:endParaRPr sz="16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sp>
        <p:nvSpPr>
          <p:cNvPr id="231" name="Google Shape;231;p49"/>
          <p:cNvSpPr txBox="1"/>
          <p:nvPr>
            <p:ph type="title"/>
          </p:nvPr>
        </p:nvSpPr>
        <p:spPr>
          <a:xfrm>
            <a:off x="582750" y="3551513"/>
            <a:ext cx="15132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10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The Opportunity:</a:t>
            </a:r>
            <a:endParaRPr sz="16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582750" y="916225"/>
            <a:ext cx="1875000" cy="408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10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Better Taste, Backed by Science</a:t>
            </a:r>
            <a:endParaRPr sz="16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sp>
        <p:nvSpPr>
          <p:cNvPr id="233" name="Google Shape;233;p49"/>
          <p:cNvSpPr txBox="1"/>
          <p:nvPr>
            <p:ph type="title"/>
          </p:nvPr>
        </p:nvSpPr>
        <p:spPr>
          <a:xfrm>
            <a:off x="574825" y="1436550"/>
            <a:ext cx="2071800" cy="408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10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What Consumers Already Believe:</a:t>
            </a:r>
            <a:endParaRPr sz="16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sp>
        <p:nvSpPr>
          <p:cNvPr id="234" name="Google Shape;234;p49"/>
          <p:cNvSpPr txBox="1"/>
          <p:nvPr>
            <p:ph type="title"/>
          </p:nvPr>
        </p:nvSpPr>
        <p:spPr>
          <a:xfrm>
            <a:off x="574825" y="2090675"/>
            <a:ext cx="17019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10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C</a:t>
            </a:r>
            <a:r>
              <a:rPr lang="pt-BR" sz="10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lear Business Impact:</a:t>
            </a:r>
            <a:endParaRPr sz="16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sp>
        <p:nvSpPr>
          <p:cNvPr id="235" name="Google Shape;235;p49"/>
          <p:cNvSpPr txBox="1"/>
          <p:nvPr>
            <p:ph type="title"/>
          </p:nvPr>
        </p:nvSpPr>
        <p:spPr>
          <a:xfrm>
            <a:off x="625950" y="2767900"/>
            <a:ext cx="1426800" cy="35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10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The Gap:</a:t>
            </a:r>
            <a:endParaRPr sz="16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sp>
        <p:nvSpPr>
          <p:cNvPr id="236" name="Google Shape;236;p49"/>
          <p:cNvSpPr txBox="1"/>
          <p:nvPr/>
        </p:nvSpPr>
        <p:spPr>
          <a:xfrm>
            <a:off x="10460025" y="3460450"/>
            <a:ext cx="453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49"/>
          <p:cNvSpPr/>
          <p:nvPr/>
        </p:nvSpPr>
        <p:spPr>
          <a:xfrm>
            <a:off x="2744850" y="1061725"/>
            <a:ext cx="739200" cy="117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0000"/>
          </a:solidFill>
          <a:ln cap="flat" cmpd="sng" w="9525">
            <a:solidFill>
              <a:srgbClr val="99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38" name="Google Shape;238;p49"/>
          <p:cNvSpPr/>
          <p:nvPr/>
        </p:nvSpPr>
        <p:spPr>
          <a:xfrm>
            <a:off x="2750788" y="1634550"/>
            <a:ext cx="739200" cy="117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0000"/>
          </a:solidFill>
          <a:ln cap="flat" cmpd="sng" w="9525">
            <a:solidFill>
              <a:srgbClr val="99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39" name="Google Shape;239;p49"/>
          <p:cNvSpPr/>
          <p:nvPr/>
        </p:nvSpPr>
        <p:spPr>
          <a:xfrm>
            <a:off x="2744850" y="2207375"/>
            <a:ext cx="739200" cy="117900"/>
          </a:xfrm>
          <a:prstGeom prst="rightArrow">
            <a:avLst>
              <a:gd fmla="val 42239" name="adj1"/>
              <a:gd fmla="val 50000" name="adj2"/>
            </a:avLst>
          </a:prstGeom>
          <a:solidFill>
            <a:srgbClr val="990000"/>
          </a:solidFill>
          <a:ln cap="flat" cmpd="sng" w="9525">
            <a:solidFill>
              <a:srgbClr val="99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40" name="Google Shape;240;p49"/>
          <p:cNvSpPr/>
          <p:nvPr/>
        </p:nvSpPr>
        <p:spPr>
          <a:xfrm>
            <a:off x="2744850" y="2884600"/>
            <a:ext cx="739200" cy="117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0000"/>
          </a:solidFill>
          <a:ln cap="flat" cmpd="sng" w="9525">
            <a:solidFill>
              <a:srgbClr val="99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41" name="Google Shape;241;p49"/>
          <p:cNvSpPr/>
          <p:nvPr/>
        </p:nvSpPr>
        <p:spPr>
          <a:xfrm>
            <a:off x="2750800" y="3668225"/>
            <a:ext cx="739200" cy="117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90000"/>
          </a:solidFill>
          <a:ln cap="flat" cmpd="sng" w="9525">
            <a:solidFill>
              <a:srgbClr val="99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242" name="Google Shape;242;p49"/>
          <p:cNvSpPr txBox="1"/>
          <p:nvPr>
            <p:ph type="title"/>
          </p:nvPr>
        </p:nvSpPr>
        <p:spPr>
          <a:xfrm>
            <a:off x="582750" y="652825"/>
            <a:ext cx="1875000" cy="408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195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WHY?</a:t>
            </a:r>
            <a:endParaRPr sz="255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50"/>
          <p:cNvSpPr txBox="1"/>
          <p:nvPr>
            <p:ph type="title"/>
          </p:nvPr>
        </p:nvSpPr>
        <p:spPr>
          <a:xfrm>
            <a:off x="2818174" y="371100"/>
            <a:ext cx="62943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Viaoda Libre"/>
              <a:buNone/>
            </a:pPr>
            <a:r>
              <a:rPr lang="pt-BR" sz="50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Project Overview</a:t>
            </a:r>
            <a:endParaRPr b="0" sz="5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50"/>
          <p:cNvSpPr txBox="1"/>
          <p:nvPr>
            <p:ph idx="1" type="subTitle"/>
          </p:nvPr>
        </p:nvSpPr>
        <p:spPr>
          <a:xfrm>
            <a:off x="3586325" y="1727025"/>
            <a:ext cx="4758000" cy="18939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"/>
              <a:buFont typeface="Advent Pro"/>
              <a:buNone/>
            </a:pPr>
            <a:r>
              <a:rPr i="0" lang="pt-BR" sz="1560" u="none" cap="none" strike="noStrike">
                <a:solidFill>
                  <a:srgbClr val="990000"/>
                </a:solidFill>
                <a:latin typeface="Advent Pro"/>
                <a:ea typeface="Advent Pro"/>
                <a:cs typeface="Advent Pro"/>
                <a:sym typeface="Advent Pro"/>
              </a:rPr>
              <a:t>This project aims to build a wine recommender that suggests the best wine for a given food item, category, or cuisine and type of </a:t>
            </a:r>
            <a:r>
              <a:rPr lang="pt-BR" sz="1560">
                <a:solidFill>
                  <a:srgbClr val="990000"/>
                </a:solidFill>
                <a:latin typeface="Advent Pro"/>
                <a:ea typeface="Advent Pro"/>
                <a:cs typeface="Advent Pro"/>
                <a:sym typeface="Advent Pro"/>
              </a:rPr>
              <a:t>wine preference</a:t>
            </a:r>
            <a:r>
              <a:rPr i="0" lang="pt-BR" sz="1560" u="none" cap="none" strike="noStrike">
                <a:solidFill>
                  <a:srgbClr val="990000"/>
                </a:solidFill>
                <a:latin typeface="Advent Pro"/>
                <a:ea typeface="Advent Pro"/>
                <a:cs typeface="Advent Pro"/>
                <a:sym typeface="Advent Pro"/>
              </a:rPr>
              <a:t>. </a:t>
            </a:r>
            <a:endParaRPr i="0" sz="1560" u="none" cap="none" strike="noStrike">
              <a:solidFill>
                <a:srgbClr val="99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0" lvl="0" marL="0" marR="0" rtl="0" algn="l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SzPts val="770"/>
              <a:buFont typeface="Arial"/>
              <a:buNone/>
            </a:pPr>
            <a:r>
              <a:t/>
            </a:r>
            <a:endParaRPr sz="1470">
              <a:solidFill>
                <a:srgbClr val="FFFFFF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14960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360"/>
              <a:buFont typeface="Advent Pro"/>
              <a:buChar char="★"/>
            </a:pPr>
            <a:r>
              <a:rPr lang="pt-BR" sz="1360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Dataset</a:t>
            </a:r>
            <a:r>
              <a:rPr lang="pt-BR" sz="1360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: Kaggle Wine &amp; Food Pairing - a synthetic dataset with over 34,000 wine-food pairings ratings</a:t>
            </a:r>
            <a:endParaRPr sz="1360">
              <a:solidFill>
                <a:schemeClr val="dk1"/>
              </a:solidFill>
              <a:latin typeface="Advent Pro"/>
              <a:ea typeface="Advent Pro"/>
              <a:cs typeface="Advent Pro"/>
              <a:sym typeface="Advent Pro"/>
            </a:endParaRPr>
          </a:p>
          <a:p>
            <a:pPr indent="0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60">
              <a:solidFill>
                <a:schemeClr val="dk1"/>
              </a:solidFill>
              <a:latin typeface="Advent Pro"/>
              <a:ea typeface="Advent Pro"/>
              <a:cs typeface="Advent Pro"/>
              <a:sym typeface="Advent Pro"/>
            </a:endParaRPr>
          </a:p>
          <a:p>
            <a:pPr indent="-314960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360"/>
              <a:buFont typeface="Advent Pro"/>
              <a:buChar char="★"/>
            </a:pPr>
            <a:r>
              <a:rPr lang="pt-BR" sz="1360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T</a:t>
            </a:r>
            <a:r>
              <a:rPr b="0" i="0" lang="pt-BR" sz="1360" u="none" cap="none" strike="noStrik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he pipeline covers exploratory data analysis, feature engineering, machine learning modeling, and app deployment for real-time recommendations. </a:t>
            </a:r>
            <a:endParaRPr b="0" i="0" sz="1360" u="none" cap="none" strike="noStrike">
              <a:solidFill>
                <a:srgbClr val="FFFFFF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249" name="Google Shape;249;p50"/>
          <p:cNvSpPr/>
          <p:nvPr/>
        </p:nvSpPr>
        <p:spPr>
          <a:xfrm>
            <a:off x="516475" y="1034380"/>
            <a:ext cx="2810400" cy="3819600"/>
          </a:xfrm>
          <a:prstGeom prst="round2SameRect">
            <a:avLst>
              <a:gd fmla="val 50000" name="adj1"/>
              <a:gd fmla="val 0" name="adj2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4" name="Google Shape;254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8475" y="314575"/>
            <a:ext cx="4788200" cy="4534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51"/>
          <p:cNvSpPr txBox="1"/>
          <p:nvPr>
            <p:ph type="title"/>
          </p:nvPr>
        </p:nvSpPr>
        <p:spPr>
          <a:xfrm>
            <a:off x="-1" y="1081213"/>
            <a:ext cx="38709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Viaoda Libre"/>
              <a:buNone/>
            </a:pPr>
            <a:r>
              <a:rPr lang="pt-BR" sz="50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Exploratory </a:t>
            </a:r>
            <a:endParaRPr sz="500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Viaoda Libre"/>
              <a:buNone/>
            </a:pPr>
            <a:r>
              <a:rPr lang="pt-BR" sz="50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Data Analysis </a:t>
            </a:r>
            <a:endParaRPr b="0" sz="5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6" name="Google Shape;256;p51" title="pngeg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1725" y="2378875"/>
            <a:ext cx="2163950" cy="2163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52"/>
          <p:cNvSpPr txBox="1"/>
          <p:nvPr>
            <p:ph type="title"/>
          </p:nvPr>
        </p:nvSpPr>
        <p:spPr>
          <a:xfrm>
            <a:off x="423549" y="124250"/>
            <a:ext cx="62943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Viaoda Libre"/>
              <a:buNone/>
            </a:pPr>
            <a:r>
              <a:rPr lang="pt-BR" sz="50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Exploratory Data Analysis </a:t>
            </a:r>
            <a:endParaRPr b="0" sz="5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2" name="Google Shape;262;p52"/>
          <p:cNvPicPr preferRelativeResize="0"/>
          <p:nvPr/>
        </p:nvPicPr>
        <p:blipFill rotWithShape="1">
          <a:blip r:embed="rId3">
            <a:alphaModFix/>
          </a:blip>
          <a:srcRect b="0" l="3799" r="0" t="0"/>
          <a:stretch/>
        </p:blipFill>
        <p:spPr>
          <a:xfrm>
            <a:off x="1067288" y="1238450"/>
            <a:ext cx="7009424" cy="3534801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52"/>
          <p:cNvSpPr/>
          <p:nvPr/>
        </p:nvSpPr>
        <p:spPr>
          <a:xfrm>
            <a:off x="6589250" y="368775"/>
            <a:ext cx="2484800" cy="769100"/>
          </a:xfrm>
          <a:prstGeom prst="flowChartDecision">
            <a:avLst/>
          </a:prstGeom>
          <a:solidFill>
            <a:srgbClr val="99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RED</a:t>
            </a:r>
            <a:r>
              <a:rPr lang="pt-BR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 </a:t>
            </a:r>
            <a:r>
              <a:rPr lang="pt-BR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WINE</a:t>
            </a:r>
            <a:endParaRPr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53"/>
          <p:cNvSpPr txBox="1"/>
          <p:nvPr>
            <p:ph type="title"/>
          </p:nvPr>
        </p:nvSpPr>
        <p:spPr>
          <a:xfrm>
            <a:off x="423549" y="124250"/>
            <a:ext cx="62943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Viaoda Libre"/>
              <a:buNone/>
            </a:pPr>
            <a:r>
              <a:rPr lang="pt-BR" sz="50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Exploratory Data Analysis </a:t>
            </a:r>
            <a:endParaRPr b="0" sz="5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53"/>
          <p:cNvSpPr/>
          <p:nvPr/>
        </p:nvSpPr>
        <p:spPr>
          <a:xfrm>
            <a:off x="6534050" y="372725"/>
            <a:ext cx="2484800" cy="769100"/>
          </a:xfrm>
          <a:prstGeom prst="flowChartDecision">
            <a:avLst/>
          </a:prstGeom>
          <a:solidFill>
            <a:srgbClr val="BF9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WHITE </a:t>
            </a:r>
            <a:r>
              <a:rPr lang="pt-BR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WINE</a:t>
            </a:r>
            <a:endParaRPr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pic>
        <p:nvPicPr>
          <p:cNvPr id="270" name="Google Shape;270;p53"/>
          <p:cNvPicPr preferRelativeResize="0"/>
          <p:nvPr/>
        </p:nvPicPr>
        <p:blipFill rotWithShape="1">
          <a:blip r:embed="rId3">
            <a:alphaModFix/>
          </a:blip>
          <a:srcRect b="0" l="0" r="1107" t="0"/>
          <a:stretch/>
        </p:blipFill>
        <p:spPr>
          <a:xfrm>
            <a:off x="994650" y="1238450"/>
            <a:ext cx="7154701" cy="3600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54"/>
          <p:cNvSpPr txBox="1"/>
          <p:nvPr>
            <p:ph type="title"/>
          </p:nvPr>
        </p:nvSpPr>
        <p:spPr>
          <a:xfrm>
            <a:off x="423549" y="124250"/>
            <a:ext cx="62943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Viaoda Libre"/>
              <a:buNone/>
            </a:pPr>
            <a:r>
              <a:rPr lang="pt-BR" sz="50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Exploratory Data Analysis </a:t>
            </a:r>
            <a:endParaRPr b="0" sz="5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54"/>
          <p:cNvSpPr/>
          <p:nvPr/>
        </p:nvSpPr>
        <p:spPr>
          <a:xfrm>
            <a:off x="6534050" y="372725"/>
            <a:ext cx="2484800" cy="769100"/>
          </a:xfrm>
          <a:prstGeom prst="flowChartDecision">
            <a:avLst/>
          </a:prstGeom>
          <a:solidFill>
            <a:srgbClr val="38761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Cuisine</a:t>
            </a:r>
            <a:endParaRPr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pic>
        <p:nvPicPr>
          <p:cNvPr id="277" name="Google Shape;277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1775" y="1238450"/>
            <a:ext cx="7420450" cy="3600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5"/>
          <p:cNvSpPr txBox="1"/>
          <p:nvPr>
            <p:ph type="title"/>
          </p:nvPr>
        </p:nvSpPr>
        <p:spPr>
          <a:xfrm>
            <a:off x="423549" y="124250"/>
            <a:ext cx="62943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Viaoda Libre"/>
              <a:buNone/>
            </a:pPr>
            <a:r>
              <a:rPr lang="pt-BR" sz="50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Exploratory Data Analysis </a:t>
            </a:r>
            <a:endParaRPr b="0" sz="5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55"/>
          <p:cNvSpPr/>
          <p:nvPr/>
        </p:nvSpPr>
        <p:spPr>
          <a:xfrm>
            <a:off x="6534050" y="372725"/>
            <a:ext cx="2484800" cy="769100"/>
          </a:xfrm>
          <a:prstGeom prst="flowChartDecision">
            <a:avLst/>
          </a:prstGeom>
          <a:solidFill>
            <a:srgbClr val="38761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Cuisine</a:t>
            </a:r>
            <a:endParaRPr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pic>
        <p:nvPicPr>
          <p:cNvPr id="284" name="Google Shape;284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0100" y="1141825"/>
            <a:ext cx="7483799" cy="3600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6"/>
          <p:cNvSpPr/>
          <p:nvPr/>
        </p:nvSpPr>
        <p:spPr>
          <a:xfrm>
            <a:off x="5858750" y="1034405"/>
            <a:ext cx="2810400" cy="3819600"/>
          </a:xfrm>
          <a:prstGeom prst="round2SameRect">
            <a:avLst>
              <a:gd fmla="val 50000" name="adj1"/>
              <a:gd fmla="val 0" name="adj2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290" name="Google Shape;290;p56"/>
          <p:cNvSpPr txBox="1"/>
          <p:nvPr>
            <p:ph type="title"/>
          </p:nvPr>
        </p:nvSpPr>
        <p:spPr>
          <a:xfrm>
            <a:off x="-566260" y="343360"/>
            <a:ext cx="73242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Viaoda Libre"/>
              <a:buNone/>
            </a:pPr>
            <a:r>
              <a:rPr lang="pt-BR" sz="50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Machine Learning</a:t>
            </a:r>
            <a:endParaRPr b="0" sz="5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56"/>
          <p:cNvSpPr txBox="1"/>
          <p:nvPr>
            <p:ph type="title"/>
          </p:nvPr>
        </p:nvSpPr>
        <p:spPr>
          <a:xfrm>
            <a:off x="515547" y="891600"/>
            <a:ext cx="51606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Viaoda Libre"/>
              <a:buNone/>
            </a:pPr>
            <a:r>
              <a:rPr lang="pt-BR" sz="35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Recommender System</a:t>
            </a:r>
            <a:endParaRPr b="0" sz="35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56"/>
          <p:cNvSpPr txBox="1"/>
          <p:nvPr>
            <p:ph idx="1" type="subTitle"/>
          </p:nvPr>
        </p:nvSpPr>
        <p:spPr>
          <a:xfrm>
            <a:off x="1338150" y="2603225"/>
            <a:ext cx="4758000" cy="18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6710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860"/>
              <a:buFont typeface="Viaoda Libre"/>
              <a:buChar char="★"/>
            </a:pPr>
            <a:r>
              <a:rPr lang="pt-BR" sz="1970">
                <a:solidFill>
                  <a:srgbClr val="FFFFFF"/>
                </a:solidFill>
                <a:latin typeface="Viaoda Libre"/>
                <a:ea typeface="Viaoda Libre"/>
                <a:cs typeface="Viaoda Libre"/>
                <a:sym typeface="Viaoda Libre"/>
              </a:rPr>
              <a:t>Collaborative Filtering</a:t>
            </a:r>
            <a:endParaRPr sz="1970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-353695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970"/>
              <a:buFont typeface="Viaoda Libre"/>
              <a:buChar char="★"/>
            </a:pPr>
            <a:r>
              <a:rPr lang="pt-BR" sz="1970">
                <a:solidFill>
                  <a:srgbClr val="FFFFFF"/>
                </a:solidFill>
                <a:latin typeface="Viaoda Libre"/>
                <a:ea typeface="Viaoda Libre"/>
                <a:cs typeface="Viaoda Libre"/>
                <a:sym typeface="Viaoda Libre"/>
              </a:rPr>
              <a:t>Gradient Boosting</a:t>
            </a:r>
            <a:endParaRPr sz="1970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-353695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970"/>
              <a:buFont typeface="Viaoda Libre"/>
              <a:buChar char="★"/>
            </a:pPr>
            <a:r>
              <a:rPr lang="pt-BR" sz="1970">
                <a:solidFill>
                  <a:srgbClr val="FFFFFF"/>
                </a:solidFill>
                <a:latin typeface="Viaoda Libre"/>
                <a:ea typeface="Viaoda Libre"/>
                <a:cs typeface="Viaoda Libre"/>
                <a:sym typeface="Viaoda Libre"/>
              </a:rPr>
              <a:t>XG Boost</a:t>
            </a:r>
            <a:endParaRPr sz="1970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-353695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970"/>
              <a:buFont typeface="Viaoda Libre"/>
              <a:buChar char="★"/>
            </a:pPr>
            <a:r>
              <a:rPr lang="pt-BR" sz="1970">
                <a:solidFill>
                  <a:srgbClr val="FFFFFF"/>
                </a:solidFill>
                <a:latin typeface="Viaoda Libre"/>
                <a:ea typeface="Viaoda Libre"/>
                <a:cs typeface="Viaoda Libre"/>
                <a:sym typeface="Viaoda Libre"/>
              </a:rPr>
              <a:t>LightGBM</a:t>
            </a:r>
            <a:endParaRPr sz="1970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57"/>
          <p:cNvSpPr txBox="1"/>
          <p:nvPr>
            <p:ph type="title"/>
          </p:nvPr>
        </p:nvSpPr>
        <p:spPr>
          <a:xfrm>
            <a:off x="-566260" y="343360"/>
            <a:ext cx="73242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Viaoda Libre"/>
              <a:buNone/>
            </a:pPr>
            <a:r>
              <a:rPr lang="pt-BR" sz="50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Machine Learning</a:t>
            </a:r>
            <a:endParaRPr b="0" sz="50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57"/>
          <p:cNvSpPr txBox="1"/>
          <p:nvPr>
            <p:ph type="title"/>
          </p:nvPr>
        </p:nvSpPr>
        <p:spPr>
          <a:xfrm>
            <a:off x="515547" y="891600"/>
            <a:ext cx="51606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Viaoda Libre"/>
              <a:buNone/>
            </a:pPr>
            <a:r>
              <a:rPr lang="pt-BR" sz="35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Recommender System</a:t>
            </a:r>
            <a:endParaRPr b="0" sz="35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57"/>
          <p:cNvSpPr txBox="1"/>
          <p:nvPr>
            <p:ph idx="1" type="subTitle"/>
          </p:nvPr>
        </p:nvSpPr>
        <p:spPr>
          <a:xfrm>
            <a:off x="6695150" y="1291025"/>
            <a:ext cx="1817400" cy="95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70">
                <a:solidFill>
                  <a:srgbClr val="FFFFFF"/>
                </a:solidFill>
                <a:latin typeface="Viaoda Libre"/>
                <a:ea typeface="Viaoda Libre"/>
                <a:cs typeface="Viaoda Libre"/>
                <a:sym typeface="Viaoda Libre"/>
              </a:rPr>
              <a:t>LightGBM</a:t>
            </a:r>
            <a:endParaRPr sz="2470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sp>
        <p:nvSpPr>
          <p:cNvPr id="300" name="Google Shape;300;p57"/>
          <p:cNvSpPr/>
          <p:nvPr/>
        </p:nvSpPr>
        <p:spPr>
          <a:xfrm>
            <a:off x="7307150" y="2005800"/>
            <a:ext cx="593400" cy="13911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9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301" name="Google Shape;301;p57"/>
          <p:cNvSpPr txBox="1"/>
          <p:nvPr>
            <p:ph idx="2" type="subTitle"/>
          </p:nvPr>
        </p:nvSpPr>
        <p:spPr>
          <a:xfrm>
            <a:off x="6517400" y="3551875"/>
            <a:ext cx="2172900" cy="8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70">
                <a:solidFill>
                  <a:srgbClr val="FFFFFF"/>
                </a:solidFill>
                <a:latin typeface="Viaoda Libre"/>
                <a:ea typeface="Viaoda Libre"/>
                <a:cs typeface="Viaoda Libre"/>
                <a:sym typeface="Viaoda Libre"/>
              </a:rPr>
              <a:t>RMSE ≈ 0.28 </a:t>
            </a:r>
            <a:endParaRPr sz="1770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marR="0" rtl="0" algn="ctr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70">
                <a:solidFill>
                  <a:srgbClr val="FFFFFF"/>
                </a:solidFill>
                <a:latin typeface="Viaoda Libre"/>
                <a:ea typeface="Viaoda Libre"/>
                <a:cs typeface="Viaoda Libre"/>
                <a:sym typeface="Viaoda Libre"/>
              </a:rPr>
              <a:t>MAE ≈ 0.16</a:t>
            </a:r>
            <a:endParaRPr sz="1770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sp>
        <p:nvSpPr>
          <p:cNvPr id="302" name="Google Shape;302;p57"/>
          <p:cNvSpPr txBox="1"/>
          <p:nvPr>
            <p:ph idx="3" type="subTitle"/>
          </p:nvPr>
        </p:nvSpPr>
        <p:spPr>
          <a:xfrm>
            <a:off x="515550" y="2461650"/>
            <a:ext cx="5705400" cy="18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0995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770"/>
              <a:buFont typeface="Viaoda Libre"/>
              <a:buChar char="●"/>
            </a:pPr>
            <a:r>
              <a:rPr lang="pt-BR" sz="1770">
                <a:solidFill>
                  <a:srgbClr val="FFFFFF"/>
                </a:solidFill>
                <a:latin typeface="Viaoda Libre"/>
                <a:ea typeface="Viaoda Libre"/>
                <a:cs typeface="Viaoda Libre"/>
                <a:sym typeface="Viaoda Libre"/>
              </a:rPr>
              <a:t>LightGBM is a machine learning algorithm based on gradient boosting, designed to make accurate predictions using decision trees.</a:t>
            </a:r>
            <a:endParaRPr sz="1770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-340995" lvl="0" marL="45720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770"/>
              <a:buFont typeface="Viaoda Libre"/>
              <a:buChar char="●"/>
            </a:pPr>
            <a:r>
              <a:rPr lang="pt-BR" sz="1770">
                <a:solidFill>
                  <a:srgbClr val="FFFFFF"/>
                </a:solidFill>
                <a:latin typeface="Viaoda Libre"/>
                <a:ea typeface="Viaoda Libre"/>
                <a:cs typeface="Viaoda Libre"/>
                <a:sym typeface="Viaoda Libre"/>
              </a:rPr>
              <a:t>It builds many small decision trees one after another.</a:t>
            </a:r>
            <a:endParaRPr sz="1770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-340995" lvl="0" marL="45720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770"/>
              <a:buFont typeface="Viaoda Libre"/>
              <a:buChar char="●"/>
            </a:pPr>
            <a:r>
              <a:rPr lang="pt-BR" sz="1770">
                <a:solidFill>
                  <a:srgbClr val="FFFFFF"/>
                </a:solidFill>
                <a:latin typeface="Viaoda Libre"/>
                <a:ea typeface="Viaoda Libre"/>
                <a:cs typeface="Viaoda Libre"/>
                <a:sym typeface="Viaoda Libre"/>
              </a:rPr>
              <a:t>Each new tree focuses on correcting the errors made by the previous ones.</a:t>
            </a:r>
            <a:endParaRPr sz="1770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58"/>
          <p:cNvSpPr txBox="1"/>
          <p:nvPr>
            <p:ph type="title"/>
          </p:nvPr>
        </p:nvSpPr>
        <p:spPr>
          <a:xfrm>
            <a:off x="805202" y="1978175"/>
            <a:ext cx="3766800" cy="13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3500">
                <a:solidFill>
                  <a:srgbClr val="990000"/>
                </a:solidFill>
                <a:latin typeface="Viaoda Libre"/>
                <a:ea typeface="Viaoda Libre"/>
                <a:cs typeface="Viaoda Libre"/>
                <a:sym typeface="Viaoda Libre"/>
              </a:rPr>
              <a:t>PairVino</a:t>
            </a:r>
            <a:endParaRPr sz="350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Viaoda Libre"/>
              <a:buNone/>
            </a:pPr>
            <a:r>
              <a:rPr lang="pt-BR" sz="150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Streamlit App</a:t>
            </a:r>
            <a:endParaRPr b="0" sz="15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8" name="Google Shape;308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02525" y="318175"/>
            <a:ext cx="3519699" cy="4507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59"/>
          <p:cNvSpPr txBox="1"/>
          <p:nvPr>
            <p:ph type="title"/>
          </p:nvPr>
        </p:nvSpPr>
        <p:spPr>
          <a:xfrm>
            <a:off x="-35475" y="173450"/>
            <a:ext cx="9204900" cy="111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 fontScale="775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Viaoda Libre"/>
              <a:buNone/>
            </a:pPr>
            <a:r>
              <a:rPr b="0" lang="pt-BR" sz="5000" u="none" strike="noStrike">
                <a:solidFill>
                  <a:srgbClr val="990000"/>
                </a:solidFill>
                <a:latin typeface="Viaoda Libre"/>
                <a:ea typeface="Viaoda Libre"/>
                <a:cs typeface="Viaoda Libre"/>
                <a:sym typeface="Viaoda Libre"/>
              </a:rPr>
              <a:t>Practical Application &amp; F</a:t>
            </a:r>
            <a:r>
              <a:rPr lang="pt-BR" sz="5000">
                <a:solidFill>
                  <a:srgbClr val="990000"/>
                </a:solidFill>
                <a:latin typeface="Viaoda Libre"/>
                <a:ea typeface="Viaoda Libre"/>
                <a:cs typeface="Viaoda Libre"/>
                <a:sym typeface="Viaoda Libre"/>
              </a:rPr>
              <a:t>u</a:t>
            </a:r>
            <a:r>
              <a:rPr b="0" lang="pt-BR" sz="5000" u="none" strike="noStrike">
                <a:solidFill>
                  <a:srgbClr val="990000"/>
                </a:solidFill>
                <a:latin typeface="Viaoda Libre"/>
                <a:ea typeface="Viaoda Libre"/>
                <a:cs typeface="Viaoda Libre"/>
                <a:sym typeface="Viaoda Libre"/>
              </a:rPr>
              <a:t>ture Improvements</a:t>
            </a:r>
            <a:endParaRPr b="0" sz="5000" u="none" strike="noStrike">
              <a:solidFill>
                <a:srgbClr val="99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59"/>
          <p:cNvSpPr txBox="1"/>
          <p:nvPr>
            <p:ph idx="1" type="subTitle"/>
          </p:nvPr>
        </p:nvSpPr>
        <p:spPr>
          <a:xfrm>
            <a:off x="573600" y="1708150"/>
            <a:ext cx="7996800" cy="218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8770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420"/>
              <a:buFont typeface="Viaoda Libre"/>
              <a:buChar char="★"/>
            </a:pPr>
            <a:r>
              <a:rPr i="0" lang="pt-BR" sz="1420" u="none" cap="none" strike="noStrike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The app lets users choose food, category, cuisine, and wine preference, displaying the top 5 recommended wines by predicted pairing quality. </a:t>
            </a:r>
            <a:endParaRPr i="0" sz="1590" u="none" cap="none" strike="noStrike">
              <a:solidFill>
                <a:srgbClr val="FFFFFF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-318770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420"/>
              <a:buFont typeface="Viaoda Libre"/>
              <a:buChar char="★"/>
            </a:pPr>
            <a:r>
              <a:rPr i="0" lang="pt-BR" sz="1420" u="none" cap="none" strike="noStrike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Future improvements</a:t>
            </a:r>
            <a:r>
              <a:rPr lang="pt-BR" sz="142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:</a:t>
            </a:r>
            <a:endParaRPr sz="142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-318769" lvl="1" marL="9144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420"/>
              <a:buFont typeface="Viaoda Libre"/>
              <a:buChar char="○"/>
            </a:pPr>
            <a:r>
              <a:rPr lang="pt-BR" sz="142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Adapt this to reality, collecting real data</a:t>
            </a:r>
            <a:endParaRPr sz="142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-318769" lvl="1" marL="9144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420"/>
              <a:buFont typeface="Viaoda Libre"/>
              <a:buChar char="○"/>
            </a:pPr>
            <a:r>
              <a:rPr lang="pt-BR" sz="142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With real data, adapt the buttons on the app to only include combinations that make sense in reality</a:t>
            </a:r>
            <a:endParaRPr sz="142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  <a:p>
            <a:pPr indent="-318769" lvl="1" marL="9144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420"/>
              <a:buFont typeface="Viaoda Libre"/>
              <a:buChar char="○"/>
            </a:pPr>
            <a:r>
              <a:rPr lang="pt-BR" sz="1420">
                <a:solidFill>
                  <a:schemeClr val="dk1"/>
                </a:solidFill>
                <a:latin typeface="Viaoda Libre"/>
                <a:ea typeface="Viaoda Libre"/>
                <a:cs typeface="Viaoda Libre"/>
                <a:sym typeface="Viaoda Libre"/>
              </a:rPr>
              <a:t> Include pictures and improve UI</a:t>
            </a:r>
            <a:endParaRPr sz="1420">
              <a:solidFill>
                <a:schemeClr val="dk1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  <p:cxnSp>
        <p:nvCxnSpPr>
          <p:cNvPr id="315" name="Google Shape;315;p59"/>
          <p:cNvCxnSpPr/>
          <p:nvPr/>
        </p:nvCxnSpPr>
        <p:spPr>
          <a:xfrm>
            <a:off x="2081880" y="4033440"/>
            <a:ext cx="4980240" cy="360"/>
          </a:xfrm>
          <a:prstGeom prst="straightConnector1">
            <a:avLst/>
          </a:prstGeom>
          <a:noFill/>
          <a:ln cap="flat" cmpd="sng" w="9525">
            <a:solidFill>
              <a:srgbClr val="C8C6BA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60"/>
          <p:cNvSpPr txBox="1"/>
          <p:nvPr>
            <p:ph type="title"/>
          </p:nvPr>
        </p:nvSpPr>
        <p:spPr>
          <a:xfrm>
            <a:off x="4375050" y="906469"/>
            <a:ext cx="3666600" cy="61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Viaoda Libre"/>
              <a:buNone/>
            </a:pPr>
            <a:r>
              <a:rPr b="0" lang="pt-BR" sz="2800" u="none" strike="noStrike">
                <a:solidFill>
                  <a:srgbClr val="990000"/>
                </a:solidFill>
                <a:latin typeface="Viaoda Libre"/>
                <a:ea typeface="Viaoda Libre"/>
                <a:cs typeface="Viaoda Libre"/>
                <a:sym typeface="Viaoda Libre"/>
              </a:rPr>
              <a:t>Conclusions</a:t>
            </a:r>
            <a:endParaRPr b="0" sz="2800" u="none" strike="noStrike">
              <a:solidFill>
                <a:srgbClr val="99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60"/>
          <p:cNvSpPr txBox="1"/>
          <p:nvPr>
            <p:ph idx="1" type="subTitle"/>
          </p:nvPr>
        </p:nvSpPr>
        <p:spPr>
          <a:xfrm>
            <a:off x="4375050" y="1920251"/>
            <a:ext cx="3666600" cy="20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6865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390"/>
              <a:buFont typeface="Advent Pro"/>
              <a:buChar char="❏"/>
            </a:pPr>
            <a:r>
              <a:rPr lang="pt-BR" sz="1390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EDA showed that the synthetic dataset was very well balanced and well distributed among the different types of wines and foods, but did not express reality. </a:t>
            </a:r>
            <a:endParaRPr sz="1390">
              <a:solidFill>
                <a:schemeClr val="dk1"/>
              </a:solidFill>
              <a:latin typeface="Advent Pro"/>
              <a:ea typeface="Advent Pro"/>
              <a:cs typeface="Advent Pro"/>
              <a:sym typeface="Advent Pro"/>
            </a:endParaRPr>
          </a:p>
          <a:p>
            <a:pPr indent="-316865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390"/>
              <a:buFont typeface="Advent Pro"/>
              <a:buChar char="❏"/>
            </a:pPr>
            <a:r>
              <a:rPr b="0" i="0" lang="pt-BR" sz="1390" u="none" cap="none" strike="noStrik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LightGBM provide</a:t>
            </a:r>
            <a:r>
              <a:rPr lang="pt-BR" sz="1390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d</a:t>
            </a:r>
            <a:r>
              <a:rPr b="0" i="0" lang="pt-BR" sz="1390" u="none" cap="none" strike="noStrik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 fast, reliable wine-food recommendations. </a:t>
            </a:r>
            <a:endParaRPr b="0" i="0" sz="1455" u="none" cap="none" strike="noStrike">
              <a:solidFill>
                <a:srgbClr val="FFFFFF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  <a:p>
            <a:pPr indent="-316865" lvl="0" marL="457200" marR="0" rtl="0" algn="just">
              <a:lnSpc>
                <a:spcPct val="130001"/>
              </a:lnSpc>
              <a:spcBef>
                <a:spcPts val="0"/>
              </a:spcBef>
              <a:spcAft>
                <a:spcPts val="0"/>
              </a:spcAft>
              <a:buClr>
                <a:srgbClr val="990000"/>
              </a:buClr>
              <a:buSzPts val="1390"/>
              <a:buFont typeface="Advent Pro"/>
              <a:buChar char="❏"/>
            </a:pPr>
            <a:r>
              <a:rPr b="0" i="0" lang="pt-BR" sz="1390" u="none" cap="none" strike="noStrik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rPr>
              <a:t>The Streamlit app offers an intuitive user experience with scope for expansion through advanced models and richer interfaces.</a:t>
            </a:r>
            <a:endParaRPr b="0" i="0" sz="1390" u="none" cap="none" strike="noStrike">
              <a:solidFill>
                <a:srgbClr val="FFFFFF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  <p:sp>
        <p:nvSpPr>
          <p:cNvPr id="322" name="Google Shape;322;p60"/>
          <p:cNvSpPr/>
          <p:nvPr/>
        </p:nvSpPr>
        <p:spPr>
          <a:xfrm>
            <a:off x="930600" y="661680"/>
            <a:ext cx="2810520" cy="3819600"/>
          </a:xfrm>
          <a:prstGeom prst="round2SameRect">
            <a:avLst>
              <a:gd fmla="val 50000" name="adj1"/>
              <a:gd fmla="val 0" name="adj2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Noto Sans Symbols"/>
              <a:ea typeface="Noto Sans Symbols"/>
              <a:cs typeface="Noto Sans Symbols"/>
              <a:sym typeface="Noto Sans Symbol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61"/>
          <p:cNvSpPr txBox="1"/>
          <p:nvPr>
            <p:ph type="title"/>
          </p:nvPr>
        </p:nvSpPr>
        <p:spPr>
          <a:xfrm>
            <a:off x="2688602" y="1894350"/>
            <a:ext cx="3766800" cy="135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90"/>
              <a:buFont typeface="Arial"/>
              <a:buNone/>
            </a:pPr>
            <a:r>
              <a:rPr lang="pt-BR" sz="3500">
                <a:solidFill>
                  <a:srgbClr val="990000"/>
                </a:solidFill>
                <a:latin typeface="Viaoda Libre"/>
                <a:ea typeface="Viaoda Libre"/>
                <a:cs typeface="Viaoda Libre"/>
                <a:sym typeface="Viaoda Libre"/>
              </a:rPr>
              <a:t>Thank you!</a:t>
            </a:r>
            <a:endParaRPr sz="3500">
              <a:solidFill>
                <a:srgbClr val="990000"/>
              </a:solidFill>
              <a:latin typeface="Viaoda Libre"/>
              <a:ea typeface="Viaoda Libre"/>
              <a:cs typeface="Viaoda Libre"/>
              <a:sym typeface="Viaoda Libr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How to Host a Dinner Party by Slidesgo">
  <a:themeElements>
    <a:clrScheme name="Simple Light">
      <a:dk1>
        <a:srgbClr val="FFFFFC"/>
      </a:dk1>
      <a:lt1>
        <a:srgbClr val="0C1A27"/>
      </a:lt1>
      <a:dk2>
        <a:srgbClr val="000000"/>
      </a:dk2>
      <a:lt2>
        <a:srgbClr val="383E4A"/>
      </a:lt2>
      <a:accent1>
        <a:srgbClr val="C8C6BA"/>
      </a:accent1>
      <a:accent2>
        <a:srgbClr val="E9E4C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
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  <p:sldMasterId id="214748369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Noto Sans Symbols"/>
      <p:regular r:id="rId21"/>
      <p:bold r:id="rId22"/>
    </p:embeddedFont>
    <p:embeddedFont>
      <p:font typeface="Advent Pro"/>
      <p:regular r:id="rId23"/>
      <p:bold r:id="rId24"/>
      <p:italic r:id="rId25"/>
      <p:boldItalic r:id="rId26"/>
    </p:embeddedFont>
    <p:embeddedFont>
      <p:font typeface="Viaoda Libre"/>
      <p:regular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NotoSansSymbols-bold.fntdata"/><Relationship Id="rId21" Type="http://schemas.openxmlformats.org/officeDocument/2006/relationships/font" Target="fonts/NotoSansSymbols-regular.fntdata"/><Relationship Id="rId24" Type="http://schemas.openxmlformats.org/officeDocument/2006/relationships/font" Target="fonts/AdventPro-bold.fntdata"/><Relationship Id="rId23" Type="http://schemas.openxmlformats.org/officeDocument/2006/relationships/font" Target="fonts/AdventPr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AdventPro-boldItalic.fntdata"/><Relationship Id="rId25" Type="http://schemas.openxmlformats.org/officeDocument/2006/relationships/font" Target="fonts/AdventPro-italic.fntdata"/><Relationship Id="rId27" Type="http://schemas.openxmlformats.org/officeDocument/2006/relationships/font" Target="fonts/ViaodaLibre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0e858f6a1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90e858f6a1_2_1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0e858f6a1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90e858f6a1_0_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0e858f6a1_2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90e858f6a1_2_17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0e858f6a1_2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90e858f6a1_2_2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0e858f6a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90e858f6a1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0e858f6a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90e858f6a1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0e858f6a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90e858f6a1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90e858f6a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90e858f6a1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0e858f6a1_2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90e858f6a1_2_1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0e858f6a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90e858f6a1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0e858f6a1_2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90e858f6a1_2_2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0e858f6a1_2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90e858f6a1_2_2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0e858f6a1_2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90e858f6a1_2_2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104fa885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9104fa885b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4"/>
          <p:cNvCxnSpPr/>
          <p:nvPr/>
        </p:nvCxnSpPr>
        <p:spPr>
          <a:xfrm>
            <a:off x="505800" y="54468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" name="Google Shape;53;p14"/>
          <p:cNvCxnSpPr/>
          <p:nvPr/>
        </p:nvCxnSpPr>
        <p:spPr>
          <a:xfrm>
            <a:off x="2674800" y="289440"/>
            <a:ext cx="360" cy="25560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" name="Google Shape;54;p14"/>
          <p:cNvCxnSpPr/>
          <p:nvPr/>
        </p:nvCxnSpPr>
        <p:spPr>
          <a:xfrm>
            <a:off x="6493680" y="289440"/>
            <a:ext cx="360" cy="25560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" name="Google Shape;55;p14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" name="Google Shape;56;p14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4"/>
          <p:cNvSpPr txBox="1"/>
          <p:nvPr>
            <p:ph type="title"/>
          </p:nvPr>
        </p:nvSpPr>
        <p:spPr>
          <a:xfrm>
            <a:off x="713160" y="1224720"/>
            <a:ext cx="4689000" cy="22579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5649480" y="768600"/>
            <a:ext cx="2781000" cy="38196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 type="blank">
  <p:cSld name="BLANK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907560" y="1182960"/>
            <a:ext cx="7328520" cy="11152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941760" y="682200"/>
            <a:ext cx="2964240" cy="377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62" name="Google Shape;62;p15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4">
  <p:cSld name="CUSTOM_4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6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6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16"/>
          <p:cNvSpPr txBox="1"/>
          <p:nvPr>
            <p:ph type="title"/>
          </p:nvPr>
        </p:nvSpPr>
        <p:spPr>
          <a:xfrm>
            <a:off x="4460040" y="1495800"/>
            <a:ext cx="3668760" cy="1422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930600" y="661680"/>
            <a:ext cx="2810520" cy="3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3_1">
  <p:cSld name="CUSTOM_3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17"/>
          <p:cNvCxnSpPr/>
          <p:nvPr/>
        </p:nvCxnSpPr>
        <p:spPr>
          <a:xfrm>
            <a:off x="505800" y="54468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7"/>
          <p:cNvCxnSpPr/>
          <p:nvPr/>
        </p:nvCxnSpPr>
        <p:spPr>
          <a:xfrm>
            <a:off x="2674800" y="289440"/>
            <a:ext cx="360" cy="25560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7"/>
          <p:cNvCxnSpPr/>
          <p:nvPr/>
        </p:nvCxnSpPr>
        <p:spPr>
          <a:xfrm>
            <a:off x="6493680" y="289440"/>
            <a:ext cx="360" cy="25560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7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7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17"/>
          <p:cNvSpPr txBox="1"/>
          <p:nvPr>
            <p:ph type="title"/>
          </p:nvPr>
        </p:nvSpPr>
        <p:spPr>
          <a:xfrm>
            <a:off x="2349000" y="807840"/>
            <a:ext cx="4447800" cy="1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6" name="Google Shape;76;p17"/>
          <p:cNvSpPr/>
          <p:nvPr/>
        </p:nvSpPr>
        <p:spPr>
          <a:xfrm>
            <a:off x="2346840" y="3779640"/>
            <a:ext cx="4388040" cy="555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200" u="none" strike="noStrik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CREDITS: This presentation template was created by </a:t>
            </a:r>
            <a:r>
              <a:rPr b="1" lang="pt-BR" sz="1200" u="sng" strike="noStrike">
                <a:solidFill>
                  <a:schemeClr val="hlink"/>
                </a:solidFill>
                <a:latin typeface="Advent Pro"/>
                <a:ea typeface="Advent Pro"/>
                <a:cs typeface="Advent Pro"/>
                <a:sym typeface="Advent Pro"/>
                <a:hlinkClick r:id="rId2"/>
              </a:rPr>
              <a:t>Slidesgo</a:t>
            </a:r>
            <a:r>
              <a:rPr b="0" lang="pt-BR" sz="1200" u="none" strike="noStrik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, and includes icons, infographics &amp; images by </a:t>
            </a:r>
            <a:r>
              <a:rPr b="1" lang="pt-BR" sz="1200" u="sng" strike="noStrike">
                <a:solidFill>
                  <a:schemeClr val="hlink"/>
                </a:solidFill>
                <a:latin typeface="Advent Pro"/>
                <a:ea typeface="Advent Pro"/>
                <a:cs typeface="Advent Pro"/>
                <a:sym typeface="Advent Pro"/>
                <a:hlinkClick r:id="rId3"/>
              </a:rPr>
              <a:t>Freepik</a:t>
            </a:r>
            <a:r>
              <a:rPr b="1" lang="pt-BR" sz="1200" u="none" strike="noStrik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 </a:t>
            </a:r>
            <a:endParaRPr b="0" sz="1200" u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18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" name="Google Shape;79;p18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" name="Google Shape;80;p18"/>
          <p:cNvSpPr txBox="1"/>
          <p:nvPr>
            <p:ph hasCustomPrompt="1" type="title"/>
          </p:nvPr>
        </p:nvSpPr>
        <p:spPr>
          <a:xfrm>
            <a:off x="1284120" y="2720880"/>
            <a:ext cx="6575760" cy="11804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>
            <a:r>
              <a:t>xx%</a:t>
            </a:r>
          </a:p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713160" y="581760"/>
            <a:ext cx="7717320" cy="19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5" name="Google Shape;85;p20"/>
          <p:cNvSpPr txBox="1"/>
          <p:nvPr>
            <p:ph idx="2" type="title"/>
          </p:nvPr>
        </p:nvSpPr>
        <p:spPr>
          <a:xfrm>
            <a:off x="1505520" y="1352520"/>
            <a:ext cx="7344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6" name="Google Shape;86;p20"/>
          <p:cNvSpPr txBox="1"/>
          <p:nvPr>
            <p:ph idx="3" type="title"/>
          </p:nvPr>
        </p:nvSpPr>
        <p:spPr>
          <a:xfrm>
            <a:off x="1505520" y="3086280"/>
            <a:ext cx="7344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7" name="Google Shape;87;p20"/>
          <p:cNvSpPr txBox="1"/>
          <p:nvPr>
            <p:ph idx="4" type="title"/>
          </p:nvPr>
        </p:nvSpPr>
        <p:spPr>
          <a:xfrm>
            <a:off x="4204800" y="1352520"/>
            <a:ext cx="7344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8" name="Google Shape;88;p20"/>
          <p:cNvSpPr txBox="1"/>
          <p:nvPr>
            <p:ph idx="5" type="title"/>
          </p:nvPr>
        </p:nvSpPr>
        <p:spPr>
          <a:xfrm>
            <a:off x="4204800" y="3086280"/>
            <a:ext cx="7344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9" name="Google Shape;89;p20"/>
          <p:cNvSpPr txBox="1"/>
          <p:nvPr>
            <p:ph idx="6" type="title"/>
          </p:nvPr>
        </p:nvSpPr>
        <p:spPr>
          <a:xfrm>
            <a:off x="6904080" y="1352520"/>
            <a:ext cx="7344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0" name="Google Shape;90;p20"/>
          <p:cNvSpPr txBox="1"/>
          <p:nvPr>
            <p:ph idx="7" type="title"/>
          </p:nvPr>
        </p:nvSpPr>
        <p:spPr>
          <a:xfrm>
            <a:off x="6904080" y="3086280"/>
            <a:ext cx="7344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91" name="Google Shape;91;p20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20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21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21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21"/>
          <p:cNvSpPr txBox="1"/>
          <p:nvPr>
            <p:ph type="title"/>
          </p:nvPr>
        </p:nvSpPr>
        <p:spPr>
          <a:xfrm>
            <a:off x="708840" y="3208320"/>
            <a:ext cx="3614040" cy="7585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7" name="Google Shape;97;p21"/>
          <p:cNvSpPr txBox="1"/>
          <p:nvPr>
            <p:ph idx="2" type="title"/>
          </p:nvPr>
        </p:nvSpPr>
        <p:spPr>
          <a:xfrm>
            <a:off x="713160" y="661680"/>
            <a:ext cx="9007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8" name="Google Shape;98;p21"/>
          <p:cNvSpPr txBox="1"/>
          <p:nvPr>
            <p:ph idx="1" type="body"/>
          </p:nvPr>
        </p:nvSpPr>
        <p:spPr>
          <a:xfrm>
            <a:off x="5268240" y="661680"/>
            <a:ext cx="2781000" cy="3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">
  <p:cSld name="BLANK_1_1"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22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22"/>
          <p:cNvSpPr txBox="1"/>
          <p:nvPr>
            <p:ph type="title"/>
          </p:nvPr>
        </p:nvSpPr>
        <p:spPr>
          <a:xfrm>
            <a:off x="713160" y="3055680"/>
            <a:ext cx="4659480" cy="5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5638680" y="661680"/>
            <a:ext cx="2781000" cy="3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Google Shape;105;p23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23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23"/>
          <p:cNvSpPr txBox="1"/>
          <p:nvPr>
            <p:ph type="title"/>
          </p:nvPr>
        </p:nvSpPr>
        <p:spPr>
          <a:xfrm>
            <a:off x="713160" y="1689480"/>
            <a:ext cx="3593520" cy="7423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8" name="Google Shape;108;p23"/>
          <p:cNvSpPr txBox="1"/>
          <p:nvPr>
            <p:ph idx="1" type="body"/>
          </p:nvPr>
        </p:nvSpPr>
        <p:spPr>
          <a:xfrm>
            <a:off x="5567760" y="768600"/>
            <a:ext cx="2781000" cy="3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4_1">
  <p:cSld name="CUSTOM_4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0" name="Google Shape;110;p24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24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113;p25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25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25"/>
          <p:cNvSpPr txBox="1"/>
          <p:nvPr>
            <p:ph type="title"/>
          </p:nvPr>
        </p:nvSpPr>
        <p:spPr>
          <a:xfrm>
            <a:off x="739440" y="1215360"/>
            <a:ext cx="3452400" cy="8049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17;p26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6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26"/>
          <p:cNvSpPr txBox="1"/>
          <p:nvPr>
            <p:ph type="title"/>
          </p:nvPr>
        </p:nvSpPr>
        <p:spPr>
          <a:xfrm>
            <a:off x="4841280" y="1732320"/>
            <a:ext cx="3452400" cy="80496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secHead">
  <p:cSld name="SECTION_HEADER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2038320" y="1557720"/>
            <a:ext cx="5067360" cy="7063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2" name="Google Shape;122;p27"/>
          <p:cNvSpPr txBox="1"/>
          <p:nvPr>
            <p:ph idx="2" type="title"/>
          </p:nvPr>
        </p:nvSpPr>
        <p:spPr>
          <a:xfrm>
            <a:off x="4121640" y="552960"/>
            <a:ext cx="900720" cy="841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3" name="Google Shape;123;p27"/>
          <p:cNvSpPr txBox="1"/>
          <p:nvPr>
            <p:ph idx="1" type="body"/>
          </p:nvPr>
        </p:nvSpPr>
        <p:spPr>
          <a:xfrm>
            <a:off x="713160" y="2669040"/>
            <a:ext cx="7717320" cy="19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6">
  <p:cSld name="CUSTOM_16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8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28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28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1">
  <p:cSld name="TITLE_AND_TWO_COLUMNS_1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29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29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29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1_1">
  <p:cSld name="TITLE_AND_TWO_COLUMNS_1_1"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" name="Google Shape;133;p30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30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30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_1_1_1">
  <p:cSld name="TITLE_AND_TWO_COLUMNS_1_1_1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7" name="Google Shape;137;p31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31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31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6">
  <p:cSld name="CUSTOM_6"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32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32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32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33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33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33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5">
  <p:cSld name="CUSTOM_5"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34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34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34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0">
  <p:cSld name="CUSTOM_10"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Google Shape;153;p35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35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35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7">
  <p:cSld name="CUSTOM_7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" name="Google Shape;157;p36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36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36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8">
  <p:cSld name="CUSTOM_8"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Google Shape;161;p37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37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37"/>
          <p:cNvSpPr txBox="1"/>
          <p:nvPr>
            <p:ph type="title"/>
          </p:nvPr>
        </p:nvSpPr>
        <p:spPr>
          <a:xfrm>
            <a:off x="4132080" y="661680"/>
            <a:ext cx="4174200" cy="7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4" name="Google Shape;164;p37"/>
          <p:cNvSpPr txBox="1"/>
          <p:nvPr>
            <p:ph idx="2" type="title"/>
          </p:nvPr>
        </p:nvSpPr>
        <p:spPr>
          <a:xfrm>
            <a:off x="4132080" y="1959480"/>
            <a:ext cx="4174200" cy="7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5" name="Google Shape;165;p37"/>
          <p:cNvSpPr txBox="1"/>
          <p:nvPr>
            <p:ph idx="3" type="title"/>
          </p:nvPr>
        </p:nvSpPr>
        <p:spPr>
          <a:xfrm>
            <a:off x="4132080" y="3257280"/>
            <a:ext cx="4174200" cy="7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6" name="Google Shape;166;p37"/>
          <p:cNvSpPr txBox="1"/>
          <p:nvPr>
            <p:ph idx="1" type="body"/>
          </p:nvPr>
        </p:nvSpPr>
        <p:spPr>
          <a:xfrm>
            <a:off x="803160" y="661680"/>
            <a:ext cx="2781000" cy="3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/>
          <p:nvPr>
            <p:ph type="title"/>
          </p:nvPr>
        </p:nvSpPr>
        <p:spPr>
          <a:xfrm>
            <a:off x="71316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9" name="Google Shape;169;p38"/>
          <p:cNvSpPr txBox="1"/>
          <p:nvPr>
            <p:ph idx="1" type="body"/>
          </p:nvPr>
        </p:nvSpPr>
        <p:spPr>
          <a:xfrm>
            <a:off x="720000" y="1139400"/>
            <a:ext cx="7703640" cy="398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cxnSp>
        <p:nvCxnSpPr>
          <p:cNvPr id="170" name="Google Shape;170;p38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38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8_1">
  <p:cSld name="CUSTOM_8_1"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3" name="Google Shape;173;p39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39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39"/>
          <p:cNvSpPr txBox="1"/>
          <p:nvPr>
            <p:ph type="title"/>
          </p:nvPr>
        </p:nvSpPr>
        <p:spPr>
          <a:xfrm>
            <a:off x="1325520" y="1385640"/>
            <a:ext cx="1398600" cy="4820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6" name="Google Shape;176;p39"/>
          <p:cNvSpPr txBox="1"/>
          <p:nvPr>
            <p:ph idx="2" type="title"/>
          </p:nvPr>
        </p:nvSpPr>
        <p:spPr>
          <a:xfrm>
            <a:off x="3873240" y="1385640"/>
            <a:ext cx="1397520" cy="4820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7" name="Google Shape;177;p39"/>
          <p:cNvSpPr txBox="1"/>
          <p:nvPr>
            <p:ph idx="3" type="title"/>
          </p:nvPr>
        </p:nvSpPr>
        <p:spPr>
          <a:xfrm>
            <a:off x="6417720" y="1385640"/>
            <a:ext cx="1397520" cy="4820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8" name="Google Shape;178;p39"/>
          <p:cNvSpPr txBox="1"/>
          <p:nvPr>
            <p:ph idx="4"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4">
  <p:cSld name="CUSTOM_14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40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40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40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">
  <p:cSld name="CUSTOM_9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41"/>
          <p:cNvCxnSpPr/>
          <p:nvPr/>
        </p:nvCxnSpPr>
        <p:spPr>
          <a:xfrm>
            <a:off x="293400" y="272520"/>
            <a:ext cx="360" cy="459828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" name="Google Shape;185;p41"/>
          <p:cNvCxnSpPr/>
          <p:nvPr/>
        </p:nvCxnSpPr>
        <p:spPr>
          <a:xfrm>
            <a:off x="8850240" y="272520"/>
            <a:ext cx="360" cy="459828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9_1">
  <p:cSld name="CUSTOM_9_1"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" name="Google Shape;187;p42"/>
          <p:cNvCxnSpPr/>
          <p:nvPr/>
        </p:nvCxnSpPr>
        <p:spPr>
          <a:xfrm>
            <a:off x="505800" y="54468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42"/>
          <p:cNvCxnSpPr/>
          <p:nvPr/>
        </p:nvCxnSpPr>
        <p:spPr>
          <a:xfrm>
            <a:off x="998640" y="289440"/>
            <a:ext cx="360" cy="25560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42"/>
          <p:cNvCxnSpPr/>
          <p:nvPr/>
        </p:nvCxnSpPr>
        <p:spPr>
          <a:xfrm>
            <a:off x="8156520" y="289440"/>
            <a:ext cx="360" cy="25560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42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42"/>
          <p:cNvCxnSpPr/>
          <p:nvPr/>
        </p:nvCxnSpPr>
        <p:spPr>
          <a:xfrm>
            <a:off x="493200" y="4859280"/>
            <a:ext cx="815760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42"/>
          <p:cNvCxnSpPr/>
          <p:nvPr/>
        </p:nvCxnSpPr>
        <p:spPr>
          <a:xfrm>
            <a:off x="986040" y="4603680"/>
            <a:ext cx="360" cy="2559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42"/>
          <p:cNvCxnSpPr/>
          <p:nvPr/>
        </p:nvCxnSpPr>
        <p:spPr>
          <a:xfrm>
            <a:off x="8144280" y="4603680"/>
            <a:ext cx="360" cy="2559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42"/>
          <p:cNvCxnSpPr/>
          <p:nvPr/>
        </p:nvCxnSpPr>
        <p:spPr>
          <a:xfrm>
            <a:off x="493200" y="4603680"/>
            <a:ext cx="815760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Google Shape;196;p43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43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43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44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44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44"/>
          <p:cNvSpPr txBox="1"/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4" name="Google Shape;204;p45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45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45"/>
          <p:cNvSpPr txBox="1"/>
          <p:nvPr>
            <p:ph type="title"/>
          </p:nvPr>
        </p:nvSpPr>
        <p:spPr>
          <a:xfrm>
            <a:off x="4477680" y="993600"/>
            <a:ext cx="3719880" cy="9388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7" name="Google Shape;207;p45"/>
          <p:cNvSpPr txBox="1"/>
          <p:nvPr>
            <p:ph idx="1" type="body"/>
          </p:nvPr>
        </p:nvSpPr>
        <p:spPr>
          <a:xfrm>
            <a:off x="726120" y="661680"/>
            <a:ext cx="2781000" cy="3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46"/>
          <p:cNvCxnSpPr/>
          <p:nvPr/>
        </p:nvCxnSpPr>
        <p:spPr>
          <a:xfrm>
            <a:off x="505800" y="485496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46"/>
          <p:cNvCxnSpPr/>
          <p:nvPr/>
        </p:nvCxnSpPr>
        <p:spPr>
          <a:xfrm>
            <a:off x="505800" y="289440"/>
            <a:ext cx="815724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46"/>
          <p:cNvSpPr txBox="1"/>
          <p:nvPr>
            <p:ph type="title"/>
          </p:nvPr>
        </p:nvSpPr>
        <p:spPr>
          <a:xfrm>
            <a:off x="4371840" y="1495800"/>
            <a:ext cx="3982320" cy="215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2" name="Google Shape;212;p46"/>
          <p:cNvSpPr txBox="1"/>
          <p:nvPr>
            <p:ph idx="1" type="body"/>
          </p:nvPr>
        </p:nvSpPr>
        <p:spPr>
          <a:xfrm>
            <a:off x="1157040" y="661680"/>
            <a:ext cx="2781000" cy="3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7"/>
          <p:cNvSpPr txBox="1"/>
          <p:nvPr>
            <p:ph idx="1" type="body"/>
          </p:nvPr>
        </p:nvSpPr>
        <p:spPr>
          <a:xfrm>
            <a:off x="0" y="-6840"/>
            <a:ext cx="9143640" cy="515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</a:lstStyle>
          <a:p/>
        </p:txBody>
      </p:sp>
      <p:sp>
        <p:nvSpPr>
          <p:cNvPr id="215" name="Google Shape;215;p47"/>
          <p:cNvSpPr txBox="1"/>
          <p:nvPr>
            <p:ph type="title"/>
          </p:nvPr>
        </p:nvSpPr>
        <p:spPr>
          <a:xfrm>
            <a:off x="1520640" y="4014360"/>
            <a:ext cx="6102720" cy="57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Google Shape;220;p48"/>
          <p:cNvCxnSpPr/>
          <p:nvPr/>
        </p:nvCxnSpPr>
        <p:spPr>
          <a:xfrm>
            <a:off x="505800" y="3633840"/>
            <a:ext cx="7819560" cy="36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48"/>
          <p:cNvSpPr/>
          <p:nvPr/>
        </p:nvSpPr>
        <p:spPr>
          <a:xfrm>
            <a:off x="5649480" y="768600"/>
            <a:ext cx="2781000" cy="3819600"/>
          </a:xfrm>
          <a:prstGeom prst="round2SameRect">
            <a:avLst>
              <a:gd fmla="val 16667" name="adj1"/>
              <a:gd fmla="val 0" name="adj2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22" name="Google Shape;222;p48"/>
          <p:cNvSpPr txBox="1"/>
          <p:nvPr>
            <p:ph type="title"/>
          </p:nvPr>
        </p:nvSpPr>
        <p:spPr>
          <a:xfrm>
            <a:off x="505800" y="1228675"/>
            <a:ext cx="4960200" cy="22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Viaoda Libre"/>
              <a:buNone/>
            </a:pPr>
            <a:r>
              <a:rPr lang="pt-BR" sz="60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PairVino</a:t>
            </a:r>
            <a:endParaRPr sz="590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Viaoda Libre"/>
              <a:buNone/>
            </a:pPr>
            <a:r>
              <a:rPr b="0" lang="pt-BR" sz="2600" u="none" strike="noStrike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Wine &amp; Food </a:t>
            </a:r>
            <a:endParaRPr b="0" sz="2600" u="none" strike="noStrike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Viaoda Libre"/>
              <a:buNone/>
            </a:pPr>
            <a:r>
              <a:rPr b="0" lang="pt-BR" sz="2200" u="none" strike="noStrike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Pairing Recommender</a:t>
            </a:r>
            <a:endParaRPr b="0" sz="22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8"/>
          <p:cNvSpPr txBox="1"/>
          <p:nvPr>
            <p:ph idx="1" type="subTitle"/>
          </p:nvPr>
        </p:nvSpPr>
        <p:spPr>
          <a:xfrm>
            <a:off x="505790" y="3782180"/>
            <a:ext cx="46860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"/>
              <a:buFont typeface="Calibri"/>
              <a:buNone/>
            </a:pPr>
            <a:r>
              <a:rPr lang="pt-BR" sz="16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Julia Ribeiro</a:t>
            </a:r>
            <a:endParaRPr sz="16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l">
              <a:lnSpc>
                <a:spcPct val="184545"/>
              </a:lnSpc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ts val="275"/>
              <a:buFont typeface="Arial"/>
              <a:buNone/>
            </a:pPr>
            <a:r>
              <a:rPr lang="pt-BR" sz="16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Ironhack Data Analytics Bootcamp - Final Project</a:t>
            </a:r>
            <a:endParaRPr sz="16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8" name="Google Shape;228;p49"/>
          <p:cNvCxnSpPr/>
          <p:nvPr/>
        </p:nvCxnSpPr>
        <p:spPr>
          <a:xfrm>
            <a:off x="662250" y="3983828"/>
            <a:ext cx="7819500" cy="300"/>
          </a:xfrm>
          <a:prstGeom prst="straightConnector1">
            <a:avLst/>
          </a:prstGeom>
          <a:noFill/>
          <a:ln cap="flat" cmpd="sng" w="9525">
            <a:solidFill>
              <a:srgbClr val="E9E4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49"/>
          <p:cNvSpPr txBox="1"/>
          <p:nvPr>
            <p:ph type="title"/>
          </p:nvPr>
        </p:nvSpPr>
        <p:spPr>
          <a:xfrm>
            <a:off x="3771150" y="990800"/>
            <a:ext cx="4608600" cy="293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9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Sensory research shows that good food–wine pairings significantly enhance flavor perception.</a:t>
            </a:r>
            <a:endParaRPr sz="9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9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Two-thirds of wine drinkers strongly feel that wine and food naturally complement each other, according to Colangelo &amp; Partners — but most lack the confidence to choose the right pairing.</a:t>
            </a:r>
            <a:endParaRPr sz="9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9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Marketing studies show that providing pairing recommendations can boost wine sales by ~15%.</a:t>
            </a:r>
            <a:endParaRPr sz="9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9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Wine knowledge is complex, options are overwhelming, and most consumers do not have sommelier expertise. </a:t>
            </a:r>
            <a:endParaRPr sz="9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9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Wine Intelligence Global Trends in Wine report shows that the global wine knowledge index declined between 2015 and 2019 — from ~43.8 to ~40.1 (out of 100).</a:t>
            </a:r>
            <a:endParaRPr sz="9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t/>
            </a:r>
            <a:endParaRPr sz="9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9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A data-driven, user-friendly tool can make expert pairing accessible to everyone, enhancing meals, improving buying decisions, and increasing engagement across the wine experience.</a:t>
            </a:r>
            <a:endParaRPr sz="15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230" name="Google Shape;230;p49"/>
          <p:cNvSpPr txBox="1"/>
          <p:nvPr>
            <p:ph idx="1" type="subTitle"/>
          </p:nvPr>
        </p:nvSpPr>
        <p:spPr>
          <a:xfrm>
            <a:off x="582750" y="4041650"/>
            <a:ext cx="76656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15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Introducing: </a:t>
            </a:r>
            <a:r>
              <a:rPr lang="pt-BR" sz="1550">
                <a:solidFill>
                  <a:srgbClr val="990000"/>
                </a:solidFill>
                <a:latin typeface="Viaoda Libre"/>
                <a:ea typeface="Viaoda Libre"/>
                <a:cs typeface="Viaoda Libre"/>
                <a:sym typeface="Viaoda Libre"/>
              </a:rPr>
              <a:t>PairVino</a:t>
            </a:r>
            <a:endParaRPr sz="1550">
              <a:solidFill>
                <a:srgbClr val="990000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t/>
            </a:r>
            <a:endParaRPr sz="550">
              <a:solidFill>
                <a:srgbClr val="990000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9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A smart, ML-powered wine–food pairing assistant designed to bring sommelier-level recommendations to every table.</a:t>
            </a:r>
            <a:endParaRPr sz="16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231" name="Google Shape;231;p49"/>
          <p:cNvSpPr txBox="1"/>
          <p:nvPr>
            <p:ph type="title"/>
          </p:nvPr>
        </p:nvSpPr>
        <p:spPr>
          <a:xfrm>
            <a:off x="582750" y="3551513"/>
            <a:ext cx="15132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10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The Opportunity:</a:t>
            </a:r>
            <a:endParaRPr sz="16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232" name="Google Shape;232;p49"/>
          <p:cNvSpPr txBox="1"/>
          <p:nvPr>
            <p:ph type="title"/>
          </p:nvPr>
        </p:nvSpPr>
        <p:spPr>
          <a:xfrm>
            <a:off x="582750" y="916225"/>
            <a:ext cx="18750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10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Better Taste, Backed by Science</a:t>
            </a:r>
            <a:endParaRPr sz="16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233" name="Google Shape;233;p49"/>
          <p:cNvSpPr txBox="1"/>
          <p:nvPr>
            <p:ph type="title"/>
          </p:nvPr>
        </p:nvSpPr>
        <p:spPr>
          <a:xfrm>
            <a:off x="574825" y="1436550"/>
            <a:ext cx="20718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10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What Consumers Already Believe:</a:t>
            </a:r>
            <a:endParaRPr sz="16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234" name="Google Shape;234;p49"/>
          <p:cNvSpPr txBox="1"/>
          <p:nvPr>
            <p:ph type="title"/>
          </p:nvPr>
        </p:nvSpPr>
        <p:spPr>
          <a:xfrm>
            <a:off x="574825" y="2090675"/>
            <a:ext cx="17019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10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C</a:t>
            </a:r>
            <a:r>
              <a:rPr lang="pt-BR" sz="10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lear Business Impact:</a:t>
            </a:r>
            <a:endParaRPr sz="16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235" name="Google Shape;235;p49"/>
          <p:cNvSpPr txBox="1"/>
          <p:nvPr>
            <p:ph type="title"/>
          </p:nvPr>
        </p:nvSpPr>
        <p:spPr>
          <a:xfrm>
            <a:off x="625950" y="2767900"/>
            <a:ext cx="14268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10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The Gap:</a:t>
            </a:r>
            <a:endParaRPr sz="16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236" name="Google Shape;236;p49"/>
          <p:cNvSpPr txBox="1"/>
          <p:nvPr/>
        </p:nvSpPr>
        <p:spPr>
          <a:xfrm>
            <a:off x="10460025" y="3460450"/>
            <a:ext cx="45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49"/>
          <p:cNvSpPr/>
          <p:nvPr/>
        </p:nvSpPr>
        <p:spPr>
          <a:xfrm>
            <a:off x="2744850" y="1061725"/>
            <a:ext cx="739200" cy="11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8" name="Google Shape;238;p49"/>
          <p:cNvSpPr/>
          <p:nvPr/>
        </p:nvSpPr>
        <p:spPr>
          <a:xfrm>
            <a:off x="2750788" y="1634550"/>
            <a:ext cx="739200" cy="11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9" name="Google Shape;239;p49"/>
          <p:cNvSpPr/>
          <p:nvPr/>
        </p:nvSpPr>
        <p:spPr>
          <a:xfrm>
            <a:off x="2744850" y="2207375"/>
            <a:ext cx="739200" cy="117900"/>
          </a:xfrm>
          <a:prstGeom prst="rightArrow">
            <a:avLst>
              <a:gd fmla="val 42239" name="adj1"/>
              <a:gd fmla="val 50000" name="adj2"/>
            </a:avLst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0" name="Google Shape;240;p49"/>
          <p:cNvSpPr/>
          <p:nvPr/>
        </p:nvSpPr>
        <p:spPr>
          <a:xfrm>
            <a:off x="2744850" y="2884600"/>
            <a:ext cx="739200" cy="11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1" name="Google Shape;241;p49"/>
          <p:cNvSpPr/>
          <p:nvPr/>
        </p:nvSpPr>
        <p:spPr>
          <a:xfrm>
            <a:off x="2750800" y="3668225"/>
            <a:ext cx="739200" cy="117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2" name="Google Shape;242;p49"/>
          <p:cNvSpPr txBox="1"/>
          <p:nvPr>
            <p:ph type="title"/>
          </p:nvPr>
        </p:nvSpPr>
        <p:spPr>
          <a:xfrm>
            <a:off x="582750" y="652825"/>
            <a:ext cx="18750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195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WHY?</a:t>
            </a:r>
            <a:endParaRPr sz="255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0"/>
          <p:cNvSpPr txBox="1"/>
          <p:nvPr>
            <p:ph type="title"/>
          </p:nvPr>
        </p:nvSpPr>
        <p:spPr>
          <a:xfrm>
            <a:off x="2818174" y="371100"/>
            <a:ext cx="62943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Viaoda Libre"/>
              <a:buNone/>
            </a:pPr>
            <a:r>
              <a:rPr lang="pt-BR" sz="50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Project Overview</a:t>
            </a:r>
            <a:endParaRPr b="0" sz="5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0"/>
          <p:cNvSpPr txBox="1"/>
          <p:nvPr>
            <p:ph idx="1" type="subTitle"/>
          </p:nvPr>
        </p:nvSpPr>
        <p:spPr>
          <a:xfrm>
            <a:off x="3586325" y="1727025"/>
            <a:ext cx="4758000" cy="1893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Advent Pro"/>
              <a:buNone/>
            </a:pPr>
            <a:r>
              <a:rPr i="0" lang="pt-BR" sz="1560" u="none" cap="none" strike="noStrike">
                <a:solidFill>
                  <a:srgbClr val="990000"/>
                </a:solidFill>
                <a:latin typeface="Advent Pro"/>
                <a:ea typeface="Advent Pro"/>
                <a:cs typeface="Advent Pro"/>
                <a:sym typeface="Advent Pro"/>
              </a:rPr>
              <a:t>This project aims to build a wine recommender that suggests the best wine for a given food item, category, or cuisine and type of </a:t>
            </a:r>
            <a:r>
              <a:rPr lang="pt-BR" sz="1560">
                <a:solidFill>
                  <a:srgbClr val="990000"/>
                </a:solidFill>
                <a:latin typeface="Advent Pro"/>
                <a:ea typeface="Advent Pro"/>
                <a:cs typeface="Advent Pro"/>
                <a:sym typeface="Advent Pro"/>
              </a:rPr>
              <a:t>wine preference</a:t>
            </a:r>
            <a:r>
              <a:rPr i="0" lang="pt-BR" sz="1560" u="none" cap="none" strike="noStrike">
                <a:solidFill>
                  <a:srgbClr val="990000"/>
                </a:solidFill>
                <a:latin typeface="Advent Pro"/>
                <a:ea typeface="Advent Pro"/>
                <a:cs typeface="Advent Pro"/>
                <a:sym typeface="Advent Pro"/>
              </a:rPr>
              <a:t>. </a:t>
            </a:r>
            <a:endParaRPr i="0" sz="1560" u="none" cap="none" strike="noStrike">
              <a:solidFill>
                <a:srgbClr val="99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0" lvl="0" marL="0" marR="0" rtl="0" algn="l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SzPts val="770"/>
              <a:buFont typeface="Arial"/>
              <a:buNone/>
            </a:pPr>
            <a:r>
              <a:t/>
            </a:r>
            <a:endParaRPr sz="1470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4960" lvl="0" marL="4572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60"/>
              <a:buFont typeface="Advent Pro"/>
              <a:buChar char="★"/>
            </a:pPr>
            <a:r>
              <a:rPr lang="pt-BR" sz="136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Dataset</a:t>
            </a:r>
            <a:r>
              <a:rPr lang="pt-BR" sz="136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: Kaggle Wine &amp; Food Pairing - a synthetic dataset with over 34,000 wine-food pairings ratings</a:t>
            </a:r>
            <a:endParaRPr sz="1360">
              <a:solidFill>
                <a:schemeClr val="dk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indent="0" lvl="0" marL="4572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0">
              <a:solidFill>
                <a:schemeClr val="dk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indent="-314960" lvl="0" marL="4572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60"/>
              <a:buFont typeface="Advent Pro"/>
              <a:buChar char="★"/>
            </a:pPr>
            <a:r>
              <a:rPr lang="pt-BR" sz="136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T</a:t>
            </a:r>
            <a:r>
              <a:rPr b="0" i="0" lang="pt-BR" sz="1360" u="none" cap="none" strike="noStrik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he pipeline covers exploratory data analysis, feature engineering, machine learning modeling, and app deployment for real-time recommendations. </a:t>
            </a:r>
            <a:endParaRPr b="0" i="0" sz="136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49" name="Google Shape;249;p50"/>
          <p:cNvSpPr/>
          <p:nvPr/>
        </p:nvSpPr>
        <p:spPr>
          <a:xfrm>
            <a:off x="516475" y="1034380"/>
            <a:ext cx="2810400" cy="3819600"/>
          </a:xfrm>
          <a:prstGeom prst="round2SameRect">
            <a:avLst>
              <a:gd fmla="val 50000" name="adj1"/>
              <a:gd fmla="val 0" name="adj2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8475" y="314575"/>
            <a:ext cx="4788200" cy="4534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1"/>
          <p:cNvSpPr txBox="1"/>
          <p:nvPr>
            <p:ph type="title"/>
          </p:nvPr>
        </p:nvSpPr>
        <p:spPr>
          <a:xfrm>
            <a:off x="-1" y="1081213"/>
            <a:ext cx="38709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iaoda Libre"/>
              <a:buNone/>
            </a:pPr>
            <a:r>
              <a:rPr lang="pt-BR" sz="50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Exploratory </a:t>
            </a:r>
            <a:endParaRPr sz="500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iaoda Libre"/>
              <a:buNone/>
            </a:pPr>
            <a:r>
              <a:rPr lang="pt-BR" sz="50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Data Analysis </a:t>
            </a:r>
            <a:endParaRPr b="0" sz="5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51" title="pngeg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725" y="2378875"/>
            <a:ext cx="2163950" cy="21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2"/>
          <p:cNvSpPr txBox="1"/>
          <p:nvPr>
            <p:ph type="title"/>
          </p:nvPr>
        </p:nvSpPr>
        <p:spPr>
          <a:xfrm>
            <a:off x="423549" y="124250"/>
            <a:ext cx="62943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iaoda Libre"/>
              <a:buNone/>
            </a:pPr>
            <a:r>
              <a:rPr lang="pt-BR" sz="50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Exploratory Data Analysis </a:t>
            </a:r>
            <a:endParaRPr b="0" sz="5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52"/>
          <p:cNvPicPr preferRelativeResize="0"/>
          <p:nvPr/>
        </p:nvPicPr>
        <p:blipFill rotWithShape="1">
          <a:blip r:embed="rId3">
            <a:alphaModFix/>
          </a:blip>
          <a:srcRect b="0" l="3799" r="0" t="0"/>
          <a:stretch/>
        </p:blipFill>
        <p:spPr>
          <a:xfrm>
            <a:off x="1067288" y="1238450"/>
            <a:ext cx="7009424" cy="353480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2"/>
          <p:cNvSpPr/>
          <p:nvPr/>
        </p:nvSpPr>
        <p:spPr>
          <a:xfrm>
            <a:off x="6589250" y="368775"/>
            <a:ext cx="2484800" cy="769100"/>
          </a:xfrm>
          <a:prstGeom prst="flowChartDecision">
            <a:avLst/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RED</a:t>
            </a:r>
            <a:r>
              <a:rPr lang="pt-BR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 </a:t>
            </a:r>
            <a:r>
              <a:rPr lang="pt-BR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WINE</a:t>
            </a:r>
            <a:endParaRPr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3"/>
          <p:cNvSpPr txBox="1"/>
          <p:nvPr>
            <p:ph type="title"/>
          </p:nvPr>
        </p:nvSpPr>
        <p:spPr>
          <a:xfrm>
            <a:off x="423549" y="124250"/>
            <a:ext cx="62943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iaoda Libre"/>
              <a:buNone/>
            </a:pPr>
            <a:r>
              <a:rPr lang="pt-BR" sz="50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Exploratory Data Analysis </a:t>
            </a:r>
            <a:endParaRPr b="0" sz="5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3"/>
          <p:cNvSpPr/>
          <p:nvPr/>
        </p:nvSpPr>
        <p:spPr>
          <a:xfrm>
            <a:off x="6534050" y="372725"/>
            <a:ext cx="2484800" cy="769100"/>
          </a:xfrm>
          <a:prstGeom prst="flowChartDecision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WHITE </a:t>
            </a:r>
            <a:r>
              <a:rPr lang="pt-BR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WINE</a:t>
            </a:r>
            <a:endParaRPr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pic>
        <p:nvPicPr>
          <p:cNvPr id="270" name="Google Shape;270;p53"/>
          <p:cNvPicPr preferRelativeResize="0"/>
          <p:nvPr/>
        </p:nvPicPr>
        <p:blipFill rotWithShape="1">
          <a:blip r:embed="rId3">
            <a:alphaModFix/>
          </a:blip>
          <a:srcRect b="0" l="0" r="1107" t="0"/>
          <a:stretch/>
        </p:blipFill>
        <p:spPr>
          <a:xfrm>
            <a:off x="994650" y="1238450"/>
            <a:ext cx="7154701" cy="36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4"/>
          <p:cNvSpPr txBox="1"/>
          <p:nvPr>
            <p:ph type="title"/>
          </p:nvPr>
        </p:nvSpPr>
        <p:spPr>
          <a:xfrm>
            <a:off x="423549" y="124250"/>
            <a:ext cx="62943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iaoda Libre"/>
              <a:buNone/>
            </a:pPr>
            <a:r>
              <a:rPr lang="pt-BR" sz="50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Exploratory Data Analysis </a:t>
            </a:r>
            <a:endParaRPr b="0" sz="5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4"/>
          <p:cNvSpPr/>
          <p:nvPr/>
        </p:nvSpPr>
        <p:spPr>
          <a:xfrm>
            <a:off x="6534050" y="372725"/>
            <a:ext cx="2484800" cy="769100"/>
          </a:xfrm>
          <a:prstGeom prst="flowChartDecision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Cuisine</a:t>
            </a:r>
            <a:endParaRPr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pic>
        <p:nvPicPr>
          <p:cNvPr id="277" name="Google Shape;27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775" y="1238450"/>
            <a:ext cx="7420450" cy="36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5"/>
          <p:cNvSpPr txBox="1"/>
          <p:nvPr>
            <p:ph type="title"/>
          </p:nvPr>
        </p:nvSpPr>
        <p:spPr>
          <a:xfrm>
            <a:off x="423549" y="124250"/>
            <a:ext cx="62943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iaoda Libre"/>
              <a:buNone/>
            </a:pPr>
            <a:r>
              <a:rPr lang="pt-BR" sz="50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Exploratory Data Analysis </a:t>
            </a:r>
            <a:endParaRPr b="0" sz="5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5"/>
          <p:cNvSpPr/>
          <p:nvPr/>
        </p:nvSpPr>
        <p:spPr>
          <a:xfrm>
            <a:off x="6534050" y="372725"/>
            <a:ext cx="2484800" cy="769100"/>
          </a:xfrm>
          <a:prstGeom prst="flowChartDecision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Cuisine</a:t>
            </a:r>
            <a:endParaRPr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pic>
        <p:nvPicPr>
          <p:cNvPr id="284" name="Google Shape;28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100" y="1141825"/>
            <a:ext cx="7483799" cy="36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6"/>
          <p:cNvSpPr/>
          <p:nvPr/>
        </p:nvSpPr>
        <p:spPr>
          <a:xfrm>
            <a:off x="5858750" y="1034405"/>
            <a:ext cx="2810400" cy="3819600"/>
          </a:xfrm>
          <a:prstGeom prst="round2SameRect">
            <a:avLst>
              <a:gd fmla="val 50000" name="adj1"/>
              <a:gd fmla="val 0" name="adj2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290" name="Google Shape;290;p56"/>
          <p:cNvSpPr txBox="1"/>
          <p:nvPr>
            <p:ph type="title"/>
          </p:nvPr>
        </p:nvSpPr>
        <p:spPr>
          <a:xfrm>
            <a:off x="-566260" y="343360"/>
            <a:ext cx="73242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Viaoda Libre"/>
              <a:buNone/>
            </a:pPr>
            <a:r>
              <a:rPr lang="pt-BR" sz="50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Machine Learning</a:t>
            </a:r>
            <a:endParaRPr b="0" sz="5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6"/>
          <p:cNvSpPr txBox="1"/>
          <p:nvPr>
            <p:ph type="title"/>
          </p:nvPr>
        </p:nvSpPr>
        <p:spPr>
          <a:xfrm>
            <a:off x="515547" y="891600"/>
            <a:ext cx="51606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Viaoda Libre"/>
              <a:buNone/>
            </a:pPr>
            <a:r>
              <a:rPr lang="pt-BR"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Recommender System</a:t>
            </a:r>
            <a:endParaRPr b="0" sz="3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56"/>
          <p:cNvSpPr txBox="1"/>
          <p:nvPr>
            <p:ph idx="1" type="subTitle"/>
          </p:nvPr>
        </p:nvSpPr>
        <p:spPr>
          <a:xfrm>
            <a:off x="1338150" y="2603225"/>
            <a:ext cx="47580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710" lvl="0" marL="4572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860"/>
              <a:buFont typeface="Viaoda Libre"/>
              <a:buChar char="★"/>
            </a:pPr>
            <a:r>
              <a:rPr lang="pt-BR" sz="1970">
                <a:solidFill>
                  <a:srgbClr val="FFFFFF"/>
                </a:solidFill>
                <a:latin typeface="Viaoda Libre"/>
                <a:ea typeface="Viaoda Libre"/>
                <a:cs typeface="Viaoda Libre"/>
                <a:sym typeface="Viaoda Libre"/>
              </a:rPr>
              <a:t>Collaborative Filtering</a:t>
            </a:r>
            <a:endParaRPr sz="1970">
              <a:solidFill>
                <a:srgbClr val="FFFFFF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-353695" lvl="0" marL="4572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970"/>
              <a:buFont typeface="Viaoda Libre"/>
              <a:buChar char="★"/>
            </a:pPr>
            <a:r>
              <a:rPr lang="pt-BR" sz="1970">
                <a:solidFill>
                  <a:srgbClr val="FFFFFF"/>
                </a:solidFill>
                <a:latin typeface="Viaoda Libre"/>
                <a:ea typeface="Viaoda Libre"/>
                <a:cs typeface="Viaoda Libre"/>
                <a:sym typeface="Viaoda Libre"/>
              </a:rPr>
              <a:t>Gradient Boosting</a:t>
            </a:r>
            <a:endParaRPr sz="1970">
              <a:solidFill>
                <a:srgbClr val="FFFFFF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-353695" lvl="0" marL="4572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970"/>
              <a:buFont typeface="Viaoda Libre"/>
              <a:buChar char="★"/>
            </a:pPr>
            <a:r>
              <a:rPr lang="pt-BR" sz="1970">
                <a:solidFill>
                  <a:srgbClr val="FFFFFF"/>
                </a:solidFill>
                <a:latin typeface="Viaoda Libre"/>
                <a:ea typeface="Viaoda Libre"/>
                <a:cs typeface="Viaoda Libre"/>
                <a:sym typeface="Viaoda Libre"/>
              </a:rPr>
              <a:t>XG Boost</a:t>
            </a:r>
            <a:endParaRPr sz="1970">
              <a:solidFill>
                <a:srgbClr val="FFFFFF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-353695" lvl="0" marL="4572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970"/>
              <a:buFont typeface="Viaoda Libre"/>
              <a:buChar char="★"/>
            </a:pPr>
            <a:r>
              <a:rPr lang="pt-BR" sz="1970">
                <a:solidFill>
                  <a:srgbClr val="FFFFFF"/>
                </a:solidFill>
                <a:latin typeface="Viaoda Libre"/>
                <a:ea typeface="Viaoda Libre"/>
                <a:cs typeface="Viaoda Libre"/>
                <a:sym typeface="Viaoda Libre"/>
              </a:rPr>
              <a:t>LightGBM</a:t>
            </a:r>
            <a:endParaRPr sz="1970">
              <a:solidFill>
                <a:srgbClr val="FFFFFF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7"/>
          <p:cNvSpPr txBox="1"/>
          <p:nvPr>
            <p:ph type="title"/>
          </p:nvPr>
        </p:nvSpPr>
        <p:spPr>
          <a:xfrm>
            <a:off x="-566260" y="343360"/>
            <a:ext cx="73242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Viaoda Libre"/>
              <a:buNone/>
            </a:pPr>
            <a:r>
              <a:rPr lang="pt-BR" sz="50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Machine Learning</a:t>
            </a:r>
            <a:endParaRPr b="0" sz="50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7"/>
          <p:cNvSpPr txBox="1"/>
          <p:nvPr>
            <p:ph type="title"/>
          </p:nvPr>
        </p:nvSpPr>
        <p:spPr>
          <a:xfrm>
            <a:off x="515547" y="891600"/>
            <a:ext cx="51606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Viaoda Libre"/>
              <a:buNone/>
            </a:pPr>
            <a:r>
              <a:rPr lang="pt-BR" sz="3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Recommender System</a:t>
            </a:r>
            <a:endParaRPr b="0" sz="3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7"/>
          <p:cNvSpPr txBox="1"/>
          <p:nvPr>
            <p:ph idx="1" type="subTitle"/>
          </p:nvPr>
        </p:nvSpPr>
        <p:spPr>
          <a:xfrm>
            <a:off x="6695150" y="1291025"/>
            <a:ext cx="1817400" cy="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70">
                <a:solidFill>
                  <a:srgbClr val="FFFFFF"/>
                </a:solidFill>
                <a:latin typeface="Viaoda Libre"/>
                <a:ea typeface="Viaoda Libre"/>
                <a:cs typeface="Viaoda Libre"/>
                <a:sym typeface="Viaoda Libre"/>
              </a:rPr>
              <a:t>LightGBM</a:t>
            </a:r>
            <a:endParaRPr sz="2470">
              <a:solidFill>
                <a:srgbClr val="FFFFFF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300" name="Google Shape;300;p57"/>
          <p:cNvSpPr/>
          <p:nvPr/>
        </p:nvSpPr>
        <p:spPr>
          <a:xfrm>
            <a:off x="7307150" y="2005800"/>
            <a:ext cx="593400" cy="1391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1" name="Google Shape;301;p57"/>
          <p:cNvSpPr txBox="1"/>
          <p:nvPr>
            <p:ph idx="2" type="subTitle"/>
          </p:nvPr>
        </p:nvSpPr>
        <p:spPr>
          <a:xfrm>
            <a:off x="6517400" y="3551875"/>
            <a:ext cx="21729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70">
                <a:solidFill>
                  <a:srgbClr val="FFFFFF"/>
                </a:solidFill>
                <a:latin typeface="Viaoda Libre"/>
                <a:ea typeface="Viaoda Libre"/>
                <a:cs typeface="Viaoda Libre"/>
                <a:sym typeface="Viaoda Libre"/>
              </a:rPr>
              <a:t>RMSE ≈ 0.28 </a:t>
            </a:r>
            <a:endParaRPr sz="1770">
              <a:solidFill>
                <a:srgbClr val="FFFFFF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marR="0" rtl="0" algn="ctr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70">
                <a:solidFill>
                  <a:srgbClr val="FFFFFF"/>
                </a:solidFill>
                <a:latin typeface="Viaoda Libre"/>
                <a:ea typeface="Viaoda Libre"/>
                <a:cs typeface="Viaoda Libre"/>
                <a:sym typeface="Viaoda Libre"/>
              </a:rPr>
              <a:t>MAE ≈ 0.16</a:t>
            </a:r>
            <a:endParaRPr sz="1770">
              <a:solidFill>
                <a:srgbClr val="FFFFFF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sp>
        <p:nvSpPr>
          <p:cNvPr id="302" name="Google Shape;302;p57"/>
          <p:cNvSpPr txBox="1"/>
          <p:nvPr>
            <p:ph idx="3" type="subTitle"/>
          </p:nvPr>
        </p:nvSpPr>
        <p:spPr>
          <a:xfrm>
            <a:off x="515550" y="2461650"/>
            <a:ext cx="5705400" cy="18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0995" lvl="0" marL="4572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770"/>
              <a:buFont typeface="Viaoda Libre"/>
              <a:buChar char="●"/>
            </a:pPr>
            <a:r>
              <a:rPr lang="pt-BR" sz="1770">
                <a:solidFill>
                  <a:srgbClr val="FFFFFF"/>
                </a:solidFill>
                <a:latin typeface="Viaoda Libre"/>
                <a:ea typeface="Viaoda Libre"/>
                <a:cs typeface="Viaoda Libre"/>
                <a:sym typeface="Viaoda Libre"/>
              </a:rPr>
              <a:t>LightGBM is a machine learning algorithm based on gradient boosting, designed to make accurate predictions using decision trees.</a:t>
            </a:r>
            <a:endParaRPr sz="1770">
              <a:solidFill>
                <a:srgbClr val="FFFFFF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-340995" lvl="0" marL="45720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770"/>
              <a:buFont typeface="Viaoda Libre"/>
              <a:buChar char="●"/>
            </a:pPr>
            <a:r>
              <a:rPr lang="pt-BR" sz="1770">
                <a:solidFill>
                  <a:srgbClr val="FFFFFF"/>
                </a:solidFill>
                <a:latin typeface="Viaoda Libre"/>
                <a:ea typeface="Viaoda Libre"/>
                <a:cs typeface="Viaoda Libre"/>
                <a:sym typeface="Viaoda Libre"/>
              </a:rPr>
              <a:t>It builds many small decision trees one after another.</a:t>
            </a:r>
            <a:endParaRPr sz="1770">
              <a:solidFill>
                <a:srgbClr val="FFFFFF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-340995" lvl="0" marL="45720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770"/>
              <a:buFont typeface="Viaoda Libre"/>
              <a:buChar char="●"/>
            </a:pPr>
            <a:r>
              <a:rPr lang="pt-BR" sz="1770">
                <a:solidFill>
                  <a:srgbClr val="FFFFFF"/>
                </a:solidFill>
                <a:latin typeface="Viaoda Libre"/>
                <a:ea typeface="Viaoda Libre"/>
                <a:cs typeface="Viaoda Libre"/>
                <a:sym typeface="Viaoda Libre"/>
              </a:rPr>
              <a:t>Each new tree focuses on correcting the errors made by the previous ones.</a:t>
            </a:r>
            <a:endParaRPr sz="1770">
              <a:solidFill>
                <a:srgbClr val="FFFFFF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8"/>
          <p:cNvSpPr txBox="1"/>
          <p:nvPr>
            <p:ph type="title"/>
          </p:nvPr>
        </p:nvSpPr>
        <p:spPr>
          <a:xfrm>
            <a:off x="805202" y="1978175"/>
            <a:ext cx="37668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3500">
                <a:solidFill>
                  <a:srgbClr val="990000"/>
                </a:solidFill>
                <a:latin typeface="Viaoda Libre"/>
                <a:ea typeface="Viaoda Libre"/>
                <a:cs typeface="Viaoda Libre"/>
                <a:sym typeface="Viaoda Libre"/>
              </a:rPr>
              <a:t>PairVino</a:t>
            </a:r>
            <a:endParaRPr sz="350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aoda Libre"/>
              <a:buNone/>
            </a:pPr>
            <a:r>
              <a:rPr lang="pt-BR" sz="150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Streamlit App</a:t>
            </a:r>
            <a:endParaRPr b="0" sz="15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2525" y="318175"/>
            <a:ext cx="3519699" cy="450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9"/>
          <p:cNvSpPr txBox="1"/>
          <p:nvPr>
            <p:ph type="title"/>
          </p:nvPr>
        </p:nvSpPr>
        <p:spPr>
          <a:xfrm>
            <a:off x="-35475" y="173450"/>
            <a:ext cx="92049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Viaoda Libre"/>
              <a:buNone/>
            </a:pPr>
            <a:r>
              <a:rPr b="0" lang="pt-BR" sz="5000" u="none" strike="noStrike">
                <a:solidFill>
                  <a:srgbClr val="990000"/>
                </a:solidFill>
                <a:latin typeface="Viaoda Libre"/>
                <a:ea typeface="Viaoda Libre"/>
                <a:cs typeface="Viaoda Libre"/>
                <a:sym typeface="Viaoda Libre"/>
              </a:rPr>
              <a:t>Practical Application &amp; F</a:t>
            </a:r>
            <a:r>
              <a:rPr lang="pt-BR" sz="5000">
                <a:solidFill>
                  <a:srgbClr val="990000"/>
                </a:solidFill>
                <a:latin typeface="Viaoda Libre"/>
                <a:ea typeface="Viaoda Libre"/>
                <a:cs typeface="Viaoda Libre"/>
                <a:sym typeface="Viaoda Libre"/>
              </a:rPr>
              <a:t>u</a:t>
            </a:r>
            <a:r>
              <a:rPr b="0" lang="pt-BR" sz="5000" u="none" strike="noStrike">
                <a:solidFill>
                  <a:srgbClr val="990000"/>
                </a:solidFill>
                <a:latin typeface="Viaoda Libre"/>
                <a:ea typeface="Viaoda Libre"/>
                <a:cs typeface="Viaoda Libre"/>
                <a:sym typeface="Viaoda Libre"/>
              </a:rPr>
              <a:t>ture Improvements</a:t>
            </a:r>
            <a:endParaRPr b="0" sz="5000" u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9"/>
          <p:cNvSpPr txBox="1"/>
          <p:nvPr>
            <p:ph idx="1" type="subTitle"/>
          </p:nvPr>
        </p:nvSpPr>
        <p:spPr>
          <a:xfrm>
            <a:off x="573600" y="1708150"/>
            <a:ext cx="7996800" cy="21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8770" lvl="0" marL="4572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20"/>
              <a:buFont typeface="Viaoda Libre"/>
              <a:buChar char="★"/>
            </a:pPr>
            <a:r>
              <a:rPr i="0" lang="pt-BR" sz="1420" u="none" cap="none" strike="noStrike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The app lets users choose food, category, cuisine, and wine preference, displaying the top 5 recommended wines by predicted pairing quality. </a:t>
            </a:r>
            <a:endParaRPr i="0" sz="1590" u="none" cap="none" strike="noStrike">
              <a:solidFill>
                <a:srgbClr val="FFFFFF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-318770" lvl="0" marL="4572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20"/>
              <a:buFont typeface="Viaoda Libre"/>
              <a:buChar char="★"/>
            </a:pPr>
            <a:r>
              <a:rPr i="0" lang="pt-BR" sz="1420" u="none" cap="none" strike="noStrike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Future improvements</a:t>
            </a:r>
            <a:r>
              <a:rPr lang="pt-BR" sz="142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:</a:t>
            </a:r>
            <a:endParaRPr sz="142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-318769" lvl="1" marL="9144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20"/>
              <a:buFont typeface="Viaoda Libre"/>
              <a:buChar char="○"/>
            </a:pPr>
            <a:r>
              <a:rPr lang="pt-BR" sz="142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Adapt this to reality, collecting real data</a:t>
            </a:r>
            <a:endParaRPr sz="142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-318769" lvl="1" marL="9144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20"/>
              <a:buFont typeface="Viaoda Libre"/>
              <a:buChar char="○"/>
            </a:pPr>
            <a:r>
              <a:rPr lang="pt-BR" sz="142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With real data, adapt the buttons on the app to only include combinations that make sense in reality</a:t>
            </a:r>
            <a:endParaRPr sz="142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  <a:p>
            <a:pPr indent="-318769" lvl="1" marL="9144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420"/>
              <a:buFont typeface="Viaoda Libre"/>
              <a:buChar char="○"/>
            </a:pPr>
            <a:r>
              <a:rPr lang="pt-BR" sz="1420">
                <a:solidFill>
                  <a:schemeClr val="dk1"/>
                </a:solidFill>
                <a:latin typeface="Viaoda Libre"/>
                <a:ea typeface="Viaoda Libre"/>
                <a:cs typeface="Viaoda Libre"/>
                <a:sym typeface="Viaoda Libre"/>
              </a:rPr>
              <a:t> Include pictures and improve UI</a:t>
            </a:r>
            <a:endParaRPr sz="1420">
              <a:solidFill>
                <a:schemeClr val="dk1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  <p:cxnSp>
        <p:nvCxnSpPr>
          <p:cNvPr id="315" name="Google Shape;315;p59"/>
          <p:cNvCxnSpPr/>
          <p:nvPr/>
        </p:nvCxnSpPr>
        <p:spPr>
          <a:xfrm>
            <a:off x="2081880" y="4033440"/>
            <a:ext cx="4980240" cy="360"/>
          </a:xfrm>
          <a:prstGeom prst="straightConnector1">
            <a:avLst/>
          </a:prstGeom>
          <a:noFill/>
          <a:ln cap="flat" cmpd="sng" w="9525">
            <a:solidFill>
              <a:srgbClr val="C8C6B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0"/>
          <p:cNvSpPr txBox="1"/>
          <p:nvPr>
            <p:ph type="title"/>
          </p:nvPr>
        </p:nvSpPr>
        <p:spPr>
          <a:xfrm>
            <a:off x="4375050" y="906469"/>
            <a:ext cx="3666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Viaoda Libre"/>
              <a:buNone/>
            </a:pPr>
            <a:r>
              <a:rPr b="0" lang="pt-BR" sz="2800" u="none" strike="noStrike">
                <a:solidFill>
                  <a:srgbClr val="990000"/>
                </a:solidFill>
                <a:latin typeface="Viaoda Libre"/>
                <a:ea typeface="Viaoda Libre"/>
                <a:cs typeface="Viaoda Libre"/>
                <a:sym typeface="Viaoda Libre"/>
              </a:rPr>
              <a:t>Conclusions</a:t>
            </a:r>
            <a:endParaRPr b="0" sz="2800" u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60"/>
          <p:cNvSpPr txBox="1"/>
          <p:nvPr>
            <p:ph idx="1" type="subTitle"/>
          </p:nvPr>
        </p:nvSpPr>
        <p:spPr>
          <a:xfrm>
            <a:off x="4375050" y="1920251"/>
            <a:ext cx="3666600" cy="20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6865" lvl="0" marL="4572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90"/>
              <a:buFont typeface="Advent Pro"/>
              <a:buChar char="❏"/>
            </a:pPr>
            <a:r>
              <a:rPr lang="pt-BR" sz="139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EDA showed that the synthetic dataset was very well balanced and well distributed among the different types of wines and foods, but did not express reality. </a:t>
            </a:r>
            <a:endParaRPr sz="1390">
              <a:solidFill>
                <a:schemeClr val="dk1"/>
              </a:solidFill>
              <a:latin typeface="Advent Pro"/>
              <a:ea typeface="Advent Pro"/>
              <a:cs typeface="Advent Pro"/>
              <a:sym typeface="Advent Pro"/>
            </a:endParaRPr>
          </a:p>
          <a:p>
            <a:pPr indent="-316865" lvl="0" marL="4572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90"/>
              <a:buFont typeface="Advent Pro"/>
              <a:buChar char="❏"/>
            </a:pPr>
            <a:r>
              <a:rPr b="0" i="0" lang="pt-BR" sz="1390" u="none" cap="none" strike="noStrik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LightGBM provide</a:t>
            </a:r>
            <a:r>
              <a:rPr lang="pt-BR" sz="1390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d</a:t>
            </a:r>
            <a:r>
              <a:rPr b="0" i="0" lang="pt-BR" sz="1390" u="none" cap="none" strike="noStrik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 fast, reliable wine-food recommendations. </a:t>
            </a:r>
            <a:endParaRPr b="0" i="0" sz="1455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indent="-316865" lvl="0" marL="457200" marR="0" rtl="0" algn="just">
              <a:lnSpc>
                <a:spcPct val="130001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390"/>
              <a:buFont typeface="Advent Pro"/>
              <a:buChar char="❏"/>
            </a:pPr>
            <a:r>
              <a:rPr b="0" i="0" lang="pt-BR" sz="1390" u="none" cap="none" strike="noStrike">
                <a:solidFill>
                  <a:schemeClr val="dk1"/>
                </a:solidFill>
                <a:latin typeface="Advent Pro"/>
                <a:ea typeface="Advent Pro"/>
                <a:cs typeface="Advent Pro"/>
                <a:sym typeface="Advent Pro"/>
              </a:rPr>
              <a:t>The Streamlit app offers an intuitive user experience with scope for expansion through advanced models and richer interfaces.</a:t>
            </a:r>
            <a:endParaRPr b="0" i="0" sz="1390" u="none" cap="none" strike="noStrike">
              <a:solidFill>
                <a:srgbClr val="FFFFFF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322" name="Google Shape;322;p60"/>
          <p:cNvSpPr/>
          <p:nvPr/>
        </p:nvSpPr>
        <p:spPr>
          <a:xfrm>
            <a:off x="930600" y="661680"/>
            <a:ext cx="2810520" cy="3819600"/>
          </a:xfrm>
          <a:prstGeom prst="round2SameRect">
            <a:avLst>
              <a:gd fmla="val 50000" name="adj1"/>
              <a:gd fmla="val 0" name="adj2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1"/>
          <p:cNvSpPr txBox="1"/>
          <p:nvPr>
            <p:ph type="title"/>
          </p:nvPr>
        </p:nvSpPr>
        <p:spPr>
          <a:xfrm>
            <a:off x="2688602" y="1894350"/>
            <a:ext cx="3766800" cy="13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90"/>
              <a:buFont typeface="Arial"/>
              <a:buNone/>
            </a:pPr>
            <a:r>
              <a:rPr lang="pt-BR" sz="3500">
                <a:solidFill>
                  <a:srgbClr val="990000"/>
                </a:solidFill>
                <a:latin typeface="Viaoda Libre"/>
                <a:ea typeface="Viaoda Libre"/>
                <a:cs typeface="Viaoda Libre"/>
                <a:sym typeface="Viaoda Libre"/>
              </a:rPr>
              <a:t>Thank you!</a:t>
            </a:r>
            <a:endParaRPr sz="3500">
              <a:solidFill>
                <a:srgbClr val="990000"/>
              </a:solidFill>
              <a:latin typeface="Viaoda Libre"/>
              <a:ea typeface="Viaoda Libre"/>
              <a:cs typeface="Viaoda Libre"/>
              <a:sym typeface="Viaoda Libr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ow to Host a Dinner Party by Slidesgo">
  <a:themeElements>
    <a:clrScheme name="Simple Light">
      <a:dk1>
        <a:srgbClr val="FFFFFC"/>
      </a:dk1>
      <a:lt1>
        <a:srgbClr val="0C1A27"/>
      </a:lt1>
      <a:dk2>
        <a:srgbClr val="000000"/>
      </a:dk2>
      <a:lt2>
        <a:srgbClr val="383E4A"/>
      </a:lt2>
      <a:accent1>
        <a:srgbClr val="C8C6BA"/>
      </a:accent1>
      <a:accent2>
        <a:srgbClr val="E9E4C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